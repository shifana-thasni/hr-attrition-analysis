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0.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1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Arial"/>
              </a:defRPr>
            </a:pPr>
            <a:r>
              <a:rPr sz="1200" b="0" i="0" u="none" strike="noStrike">
                <a:solidFill>
                  <a:srgbClr val="1E2761"/>
                </a:solidFill>
                <a:latin typeface="Arial"/>
              </a:rPr>
              <a:t>By Age Group</a:t>
            </a:r>
          </a:p>
        </c:rich>
      </c:tx>
      <c:layout/>
      <c:overlay val="0"/>
    </c:title>
    <c:autoTitleDeleted val="0"/>
    <c:plotArea>
      <c:layout/>
      <c:barChart>
        <c:barDir val="col"/>
        <c:grouping val="clustered"/>
        <c:varyColors val="0"/>
        <c:ser>
          <c:idx val="0"/>
          <c:order val="0"/>
          <c:tx>
            <c:strRef>
              <c:f>Sheet1!$B$1</c:f>
              <c:strCache>
                <c:ptCount val="1"/>
                <c:pt idx="0">
                  <c:v>Attrition Rate</c:v>
                </c:pt>
              </c:strCache>
            </c:strRef>
          </c:tx>
          <c:spPr>
            <a:solidFill>
              <a:srgbClr val="1E2761"/>
            </a:solidFill>
            <a:effectLst/>
          </c:spPr>
          <c:invertIfNegative val="0"/>
          <c:dLbls>
            <c:numFmt formatCode="#,##0" sourceLinked="0"/>
            <c:txPr>
              <a:bodyPr/>
              <a:lstStyle/>
              <a:p>
                <a:pPr>
                  <a:defRPr b="0" i="0" strike="noStrike" sz="800" u="none">
                    <a:solidFill>
                      <a:srgbClr val="1F2430"/>
                    </a:solidFill>
                    <a:latin typeface="Arial"/>
                  </a:defRPr>
                </a:pPr>
              </a:p>
            </c:txPr>
            <c:showLegendKey val="0"/>
            <c:showVal val="1"/>
            <c:showCatName val="0"/>
            <c:showSerName val="0"/>
            <c:showPercent val="0"/>
            <c:showBubbleSize val="0"/>
            <c:showLeaderLines val="0"/>
          </c:dLbls>
          <c:cat>
            <c:multiLvlStrRef>
              <c:f>Sheet1!$A$2:$A$6</c:f>
              <c:multiLvlStrCache>
                <c:ptCount val="5"/>
                <c:lvl>
                  <c:pt idx="0">
                    <c:v>18-25</c:v>
                  </c:pt>
                  <c:pt idx="1">
                    <c:v>26-35</c:v>
                  </c:pt>
                  <c:pt idx="2">
                    <c:v>36-45</c:v>
                  </c:pt>
                  <c:pt idx="3">
                    <c:v>46-55</c:v>
                  </c:pt>
                  <c:pt idx="4">
                    <c:v>56+</c:v>
                  </c:pt>
                </c:lvl>
              </c:multiLvlStrCache>
            </c:multiLvlStrRef>
          </c:cat>
          <c:val>
            <c:numRef>
              <c:f>Sheet1!$B$2:$B$6</c:f>
              <c:numCache>
                <c:formatCode>General</c:formatCode>
                <c:ptCount val="5"/>
                <c:pt idx="0">
                  <c:v>35.8</c:v>
                </c:pt>
                <c:pt idx="1">
                  <c:v>19.1</c:v>
                </c:pt>
                <c:pt idx="2">
                  <c:v>9.2</c:v>
                </c:pt>
                <c:pt idx="3">
                  <c:v>11.5</c:v>
                </c:pt>
                <c:pt idx="4">
                  <c:v>17</c:v>
                </c:pt>
              </c:numCache>
            </c:numRef>
          </c:val>
        </c:ser>
        <c:dLbls>
          <c:numFmt formatCode="#,##0" sourceLinked="0"/>
          <c:txPr>
            <a:bodyPr/>
            <a:lstStyle/>
            <a:p>
              <a:pPr>
                <a:defRPr b="0" i="0" strike="noStrike" sz="800" u="none">
                  <a:solidFill>
                    <a:srgbClr val="1F243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Arial"/>
              </a:defRPr>
            </a:pPr>
            <a:r>
              <a:rPr sz="1200" b="0" i="0" u="none" strike="noStrike">
                <a:solidFill>
                  <a:srgbClr val="1E2761"/>
                </a:solidFill>
                <a:latin typeface="Arial"/>
              </a:rPr>
              <a:t>By Gender</a:t>
            </a:r>
          </a:p>
        </c:rich>
      </c:tx>
      <c:layout/>
      <c:overlay val="0"/>
    </c:title>
    <c:autoTitleDeleted val="0"/>
    <c:plotArea>
      <c:layout/>
      <c:barChart>
        <c:barDir val="col"/>
        <c:grouping val="clustered"/>
        <c:varyColors val="0"/>
        <c:ser>
          <c:idx val="0"/>
          <c:order val="0"/>
          <c:tx>
            <c:strRef>
              <c:f>Sheet1!$B$1</c:f>
              <c:strCache>
                <c:ptCount val="1"/>
                <c:pt idx="0">
                  <c:v>Attrition Rate</c:v>
                </c:pt>
              </c:strCache>
            </c:strRef>
          </c:tx>
          <c:spPr>
            <a:solidFill>
              <a:srgbClr val="E8734A"/>
            </a:solidFill>
            <a:effectLst/>
          </c:spPr>
          <c:invertIfNegative val="0"/>
          <c:dLbls>
            <c:numFmt formatCode="#,##0" sourceLinked="0"/>
            <c:txPr>
              <a:bodyPr/>
              <a:lstStyle/>
              <a:p>
                <a:pPr>
                  <a:defRPr b="0" i="0" strike="noStrike" sz="800" u="none">
                    <a:solidFill>
                      <a:srgbClr val="1F2430"/>
                    </a:solidFill>
                    <a:latin typeface="Arial"/>
                  </a:defRPr>
                </a:pPr>
              </a:p>
            </c:txPr>
            <c:showLegendKey val="0"/>
            <c:showVal val="1"/>
            <c:showCatName val="0"/>
            <c:showSerName val="0"/>
            <c:showPercent val="0"/>
            <c:showBubbleSize val="0"/>
            <c:showLeaderLines val="0"/>
          </c:dLbls>
          <c:cat>
            <c:multiLvlStrRef>
              <c:f>Sheet1!$A$2:$A$3</c:f>
              <c:multiLvlStrCache>
                <c:ptCount val="2"/>
                <c:lvl>
                  <c:pt idx="0">
                    <c:v>Female</c:v>
                  </c:pt>
                  <c:pt idx="1">
                    <c:v>Male</c:v>
                  </c:pt>
                </c:lvl>
              </c:multiLvlStrCache>
            </c:multiLvlStrRef>
          </c:cat>
          <c:val>
            <c:numRef>
              <c:f>Sheet1!$B$2:$B$3</c:f>
              <c:numCache>
                <c:formatCode>General</c:formatCode>
                <c:ptCount val="2"/>
                <c:pt idx="0">
                  <c:v>14.8</c:v>
                </c:pt>
                <c:pt idx="1">
                  <c:v>17</c:v>
                </c:pt>
              </c:numCache>
            </c:numRef>
          </c:val>
        </c:ser>
        <c:dLbls>
          <c:numFmt formatCode="#,##0" sourceLinked="0"/>
          <c:txPr>
            <a:bodyPr/>
            <a:lstStyle/>
            <a:p>
              <a:pPr>
                <a:defRPr b="0" i="0" strike="noStrike" sz="800" u="none">
                  <a:solidFill>
                    <a:srgbClr val="1F243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Arial"/>
              </a:defRPr>
            </a:pPr>
            <a:r>
              <a:rPr sz="1200" b="0" i="0" u="none" strike="noStrike">
                <a:solidFill>
                  <a:srgbClr val="1E2761"/>
                </a:solidFill>
                <a:latin typeface="Arial"/>
              </a:rPr>
              <a:t>By Marital Status</a:t>
            </a:r>
          </a:p>
        </c:rich>
      </c:tx>
      <c:layout/>
      <c:overlay val="0"/>
    </c:title>
    <c:autoTitleDeleted val="0"/>
    <c:plotArea>
      <c:layout/>
      <c:barChart>
        <c:barDir val="col"/>
        <c:grouping val="clustered"/>
        <c:varyColors val="0"/>
        <c:ser>
          <c:idx val="0"/>
          <c:order val="0"/>
          <c:tx>
            <c:strRef>
              <c:f>Sheet1!$B$1</c:f>
              <c:strCache>
                <c:ptCount val="1"/>
                <c:pt idx="0">
                  <c:v>Attrition Rate</c:v>
                </c:pt>
              </c:strCache>
            </c:strRef>
          </c:tx>
          <c:spPr>
            <a:solidFill>
              <a:srgbClr val="1E2761"/>
            </a:solidFill>
            <a:effectLst/>
          </c:spPr>
          <c:invertIfNegative val="0"/>
          <c:dLbls>
            <c:numFmt formatCode="#,##0" sourceLinked="0"/>
            <c:txPr>
              <a:bodyPr/>
              <a:lstStyle/>
              <a:p>
                <a:pPr>
                  <a:defRPr b="0" i="0" strike="noStrike" sz="800" u="none">
                    <a:solidFill>
                      <a:srgbClr val="1F2430"/>
                    </a:solidFill>
                    <a:latin typeface="Arial"/>
                  </a:defRPr>
                </a:pPr>
              </a:p>
            </c:txPr>
            <c:showLegendKey val="0"/>
            <c:showVal val="1"/>
            <c:showCatName val="0"/>
            <c:showSerName val="0"/>
            <c:showPercent val="0"/>
            <c:showBubbleSize val="0"/>
            <c:showLeaderLines val="0"/>
          </c:dLbls>
          <c:cat>
            <c:multiLvlStrRef>
              <c:f>Sheet1!$A$2:$A$4</c:f>
              <c:multiLvlStrCache>
                <c:ptCount val="3"/>
                <c:lvl>
                  <c:pt idx="0">
                    <c:v>Divorced</c:v>
                  </c:pt>
                  <c:pt idx="1">
                    <c:v>Married</c:v>
                  </c:pt>
                  <c:pt idx="2">
                    <c:v>Single</c:v>
                  </c:pt>
                </c:lvl>
              </c:multiLvlStrCache>
            </c:multiLvlStrRef>
          </c:cat>
          <c:val>
            <c:numRef>
              <c:f>Sheet1!$B$2:$B$4</c:f>
              <c:numCache>
                <c:formatCode>General</c:formatCode>
                <c:ptCount val="3"/>
                <c:pt idx="0">
                  <c:v>10.1</c:v>
                </c:pt>
                <c:pt idx="1">
                  <c:v>12.5</c:v>
                </c:pt>
                <c:pt idx="2">
                  <c:v>25.5</c:v>
                </c:pt>
              </c:numCache>
            </c:numRef>
          </c:val>
        </c:ser>
        <c:dLbls>
          <c:numFmt formatCode="#,##0" sourceLinked="0"/>
          <c:txPr>
            <a:bodyPr/>
            <a:lstStyle/>
            <a:p>
              <a:pPr>
                <a:defRPr b="0" i="0" strike="noStrike" sz="800" u="none">
                  <a:solidFill>
                    <a:srgbClr val="1F243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Arial"/>
              </a:defRPr>
            </a:pPr>
            <a:r>
              <a:rPr sz="1200" b="0" i="0" u="none" strike="noStrike">
                <a:solidFill>
                  <a:srgbClr val="1E2761"/>
                </a:solidFill>
                <a:latin typeface="Arial"/>
              </a:rPr>
              <a:t>By Commute Distance</a:t>
            </a:r>
          </a:p>
        </c:rich>
      </c:tx>
      <c:layout/>
      <c:overlay val="0"/>
    </c:title>
    <c:autoTitleDeleted val="0"/>
    <c:plotArea>
      <c:layout/>
      <c:barChart>
        <c:barDir val="col"/>
        <c:grouping val="clustered"/>
        <c:varyColors val="0"/>
        <c:ser>
          <c:idx val="0"/>
          <c:order val="0"/>
          <c:tx>
            <c:strRef>
              <c:f>Sheet1!$B$1</c:f>
              <c:strCache>
                <c:ptCount val="1"/>
                <c:pt idx="0">
                  <c:v>Attrition Rate</c:v>
                </c:pt>
              </c:strCache>
            </c:strRef>
          </c:tx>
          <c:spPr>
            <a:solidFill>
              <a:srgbClr val="E8734A"/>
            </a:solidFill>
            <a:effectLst/>
          </c:spPr>
          <c:invertIfNegative val="0"/>
          <c:dLbls>
            <c:numFmt formatCode="#,##0" sourceLinked="0"/>
            <c:txPr>
              <a:bodyPr/>
              <a:lstStyle/>
              <a:p>
                <a:pPr>
                  <a:defRPr b="0" i="0" strike="noStrike" sz="800" u="none">
                    <a:solidFill>
                      <a:srgbClr val="1F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0-5 mi</c:v>
                  </c:pt>
                  <c:pt idx="1">
                    <c:v>6-10 mi</c:v>
                  </c:pt>
                  <c:pt idx="2">
                    <c:v>11-20 mi</c:v>
                  </c:pt>
                  <c:pt idx="3">
                    <c:v>21+ mi</c:v>
                  </c:pt>
                </c:lvl>
              </c:multiLvlStrCache>
            </c:multiLvlStrRef>
          </c:cat>
          <c:val>
            <c:numRef>
              <c:f>Sheet1!$B$2:$B$5</c:f>
              <c:numCache>
                <c:formatCode>General</c:formatCode>
                <c:ptCount val="4"/>
                <c:pt idx="0">
                  <c:v>13.8</c:v>
                </c:pt>
                <c:pt idx="1">
                  <c:v>14.5</c:v>
                </c:pt>
                <c:pt idx="2">
                  <c:v>20</c:v>
                </c:pt>
                <c:pt idx="3">
                  <c:v>22.1</c:v>
                </c:pt>
              </c:numCache>
            </c:numRef>
          </c:val>
        </c:ser>
        <c:dLbls>
          <c:numFmt formatCode="#,##0" sourceLinked="0"/>
          <c:txPr>
            <a:bodyPr/>
            <a:lstStyle/>
            <a:p>
              <a:pPr>
                <a:defRPr b="0" i="0" strike="noStrike" sz="800" u="none">
                  <a:solidFill>
                    <a:srgbClr val="1F243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Work-Life Balance</a:t>
            </a:r>
          </a:p>
        </c:rich>
      </c:tx>
      <c:layout/>
      <c:overlay val="0"/>
    </c:title>
    <c:autoTitleDeleted val="0"/>
    <c:plotArea>
      <c:layout/>
      <c:barChart>
        <c:barDir val="col"/>
        <c:grouping val="clustered"/>
        <c:varyColors val="0"/>
        <c:ser>
          <c:idx val="0"/>
          <c:order val="0"/>
          <c:tx>
            <c:strRef>
              <c:f>Sheet1!$B$1</c:f>
              <c:strCache>
                <c:ptCount val="1"/>
                <c:pt idx="0">
                  <c:v>Attrition Rate</c:v>
                </c:pt>
              </c:strCache>
            </c:strRef>
          </c:tx>
          <c:spPr>
            <a:solidFill>
              <a:srgbClr val="E8734A"/>
            </a:solidFill>
            <a:effectLst/>
          </c:spPr>
          <c:invertIfNegative val="0"/>
          <c:dLbls>
            <c:numFmt formatCode="#,##0" sourceLinked="0"/>
            <c:txPr>
              <a:bodyPr/>
              <a:lstStyle/>
              <a:p>
                <a:pPr>
                  <a:defRPr b="0" i="0" strike="noStrike" sz="900" u="none">
                    <a:solidFill>
                      <a:srgbClr val="1F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Bad</c:v>
                  </c:pt>
                  <c:pt idx="1">
                    <c:v>Good</c:v>
                  </c:pt>
                  <c:pt idx="2">
                    <c:v>Better</c:v>
                  </c:pt>
                  <c:pt idx="3">
                    <c:v>Best</c:v>
                  </c:pt>
                </c:lvl>
              </c:multiLvlStrCache>
            </c:multiLvlStrRef>
          </c:cat>
          <c:val>
            <c:numRef>
              <c:f>Sheet1!$B$2:$B$5</c:f>
              <c:numCache>
                <c:formatCode>General</c:formatCode>
                <c:ptCount val="4"/>
                <c:pt idx="0">
                  <c:v>31.3</c:v>
                </c:pt>
                <c:pt idx="1">
                  <c:v>16.9</c:v>
                </c:pt>
                <c:pt idx="2">
                  <c:v>14.2</c:v>
                </c:pt>
                <c:pt idx="3">
                  <c:v>17.6</c:v>
                </c:pt>
              </c:numCache>
            </c:numRef>
          </c:val>
        </c:ser>
        <c:dLbls>
          <c:numFmt formatCode="#,##0" sourceLinked="0"/>
          <c:txPr>
            <a:bodyPr/>
            <a:lstStyle/>
            <a:p>
              <a:pPr>
                <a:defRPr b="0" i="0" strike="noStrike" sz="900" u="none">
                  <a:solidFill>
                    <a:srgbClr val="1F243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Environment Satisfaction</a:t>
            </a:r>
          </a:p>
        </c:rich>
      </c:tx>
      <c:layout/>
      <c:overlay val="0"/>
    </c:title>
    <c:autoTitleDeleted val="0"/>
    <c:plotArea>
      <c:layout/>
      <c:barChart>
        <c:barDir val="col"/>
        <c:grouping val="clustered"/>
        <c:varyColors val="0"/>
        <c:ser>
          <c:idx val="0"/>
          <c:order val="0"/>
          <c:tx>
            <c:strRef>
              <c:f>Sheet1!$B$1</c:f>
              <c:strCache>
                <c:ptCount val="1"/>
                <c:pt idx="0">
                  <c:v>Attrition Rate</c:v>
                </c:pt>
              </c:strCache>
            </c:strRef>
          </c:tx>
          <c:spPr>
            <a:solidFill>
              <a:srgbClr val="1E2761"/>
            </a:solidFill>
            <a:effectLst/>
          </c:spPr>
          <c:invertIfNegative val="0"/>
          <c:dLbls>
            <c:numFmt formatCode="#,##0" sourceLinked="0"/>
            <c:txPr>
              <a:bodyPr/>
              <a:lstStyle/>
              <a:p>
                <a:pPr>
                  <a:defRPr b="0" i="0" strike="noStrike" sz="900" u="none">
                    <a:solidFill>
                      <a:srgbClr val="1F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Low</c:v>
                  </c:pt>
                  <c:pt idx="1">
                    <c:v>Medium</c:v>
                  </c:pt>
                  <c:pt idx="2">
                    <c:v>High</c:v>
                  </c:pt>
                  <c:pt idx="3">
                    <c:v>Very High</c:v>
                  </c:pt>
                </c:lvl>
              </c:multiLvlStrCache>
            </c:multiLvlStrRef>
          </c:cat>
          <c:val>
            <c:numRef>
              <c:f>Sheet1!$B$2:$B$5</c:f>
              <c:numCache>
                <c:formatCode>General</c:formatCode>
                <c:ptCount val="4"/>
                <c:pt idx="0">
                  <c:v>25.4</c:v>
                </c:pt>
                <c:pt idx="1">
                  <c:v>15</c:v>
                </c:pt>
                <c:pt idx="2">
                  <c:v>13.7</c:v>
                </c:pt>
                <c:pt idx="3">
                  <c:v>13.5</c:v>
                </c:pt>
              </c:numCache>
            </c:numRef>
          </c:val>
        </c:ser>
        <c:dLbls>
          <c:numFmt formatCode="#,##0" sourceLinked="0"/>
          <c:txPr>
            <a:bodyPr/>
            <a:lstStyle/>
            <a:p>
              <a:pPr>
                <a:defRPr b="0" i="0" strike="noStrike" sz="900" u="none">
                  <a:solidFill>
                    <a:srgbClr val="1F243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E2761"/>
                </a:solidFill>
                <a:latin typeface="Arial"/>
              </a:defRPr>
            </a:pPr>
            <a:r>
              <a:rPr sz="1250" b="0" i="0" u="none" strike="noStrike">
                <a:solidFill>
                  <a:srgbClr val="1E2761"/>
                </a:solidFill>
                <a:latin typeface="Arial"/>
              </a:rPr>
              <a:t>By Tenure</a:t>
            </a:r>
          </a:p>
        </c:rich>
      </c:tx>
      <c:layout/>
      <c:overlay val="0"/>
    </c:title>
    <c:autoTitleDeleted val="0"/>
    <c:plotArea>
      <c:layout/>
      <c:barChart>
        <c:barDir val="col"/>
        <c:grouping val="clustered"/>
        <c:varyColors val="0"/>
        <c:ser>
          <c:idx val="0"/>
          <c:order val="0"/>
          <c:tx>
            <c:strRef>
              <c:f>Sheet1!$B$1</c:f>
              <c:strCache>
                <c:ptCount val="1"/>
                <c:pt idx="0">
                  <c:v>Attrition Rate</c:v>
                </c:pt>
              </c:strCache>
            </c:strRef>
          </c:tx>
          <c:spPr>
            <a:solidFill>
              <a:srgbClr val="1E2761"/>
            </a:solidFill>
            <a:effectLst/>
          </c:spPr>
          <c:invertIfNegative val="0"/>
          <c:dLbls>
            <c:numFmt formatCode="#,##0" sourceLinked="0"/>
            <c:txPr>
              <a:bodyPr/>
              <a:lstStyle/>
              <a:p>
                <a:pPr>
                  <a:defRPr b="0" i="0" strike="noStrike" sz="800" u="none">
                    <a:solidFill>
                      <a:srgbClr val="1F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0-2 yrs</c:v>
                  </c:pt>
                  <c:pt idx="1">
                    <c:v>3-5 yrs</c:v>
                  </c:pt>
                  <c:pt idx="2">
                    <c:v>6-10 yrs</c:v>
                  </c:pt>
                  <c:pt idx="3">
                    <c:v>11+ yrs</c:v>
                  </c:pt>
                </c:lvl>
              </c:multiLvlStrCache>
            </c:multiLvlStrRef>
          </c:cat>
          <c:val>
            <c:numRef>
              <c:f>Sheet1!$B$2:$B$5</c:f>
              <c:numCache>
                <c:formatCode>General</c:formatCode>
                <c:ptCount val="4"/>
                <c:pt idx="0">
                  <c:v>29.8</c:v>
                </c:pt>
                <c:pt idx="1">
                  <c:v>13.8</c:v>
                </c:pt>
                <c:pt idx="2">
                  <c:v>12.3</c:v>
                </c:pt>
                <c:pt idx="3">
                  <c:v>8.1</c:v>
                </c:pt>
              </c:numCache>
            </c:numRef>
          </c:val>
        </c:ser>
        <c:dLbls>
          <c:numFmt formatCode="#,##0" sourceLinked="0"/>
          <c:txPr>
            <a:bodyPr/>
            <a:lstStyle/>
            <a:p>
              <a:pPr>
                <a:defRPr b="0" i="0" strike="noStrike" sz="800" u="none">
                  <a:solidFill>
                    <a:srgbClr val="1F2430"/>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E2761"/>
                </a:solidFill>
                <a:latin typeface="Arial"/>
              </a:defRPr>
            </a:pPr>
            <a:r>
              <a:rPr sz="1250" b="0" i="0" u="none" strike="noStrike">
                <a:solidFill>
                  <a:srgbClr val="1E2761"/>
                </a:solidFill>
                <a:latin typeface="Arial"/>
              </a:rPr>
              <a:t>By Years Since Promotion</a:t>
            </a:r>
          </a:p>
        </c:rich>
      </c:tx>
      <c:layout/>
      <c:overlay val="0"/>
    </c:title>
    <c:autoTitleDeleted val="0"/>
    <c:plotArea>
      <c:layout/>
      <c:barChart>
        <c:barDir val="col"/>
        <c:grouping val="clustered"/>
        <c:varyColors val="0"/>
        <c:ser>
          <c:idx val="0"/>
          <c:order val="0"/>
          <c:tx>
            <c:strRef>
              <c:f>Sheet1!$B$1</c:f>
              <c:strCache>
                <c:ptCount val="1"/>
                <c:pt idx="0">
                  <c:v>Attrition Rate</c:v>
                </c:pt>
              </c:strCache>
            </c:strRef>
          </c:tx>
          <c:spPr>
            <a:solidFill>
              <a:srgbClr val="E8734A"/>
            </a:solidFill>
            <a:effectLst/>
          </c:spPr>
          <c:invertIfNegative val="0"/>
          <c:dLbls>
            <c:numFmt formatCode="#,##0" sourceLinked="0"/>
            <c:txPr>
              <a:bodyPr/>
              <a:lstStyle/>
              <a:p>
                <a:pPr>
                  <a:defRPr b="0" i="0" strike="noStrike" sz="800" u="none">
                    <a:solidFill>
                      <a:srgbClr val="1F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Same yr</c:v>
                  </c:pt>
                  <c:pt idx="1">
                    <c:v>1-2 yrs</c:v>
                  </c:pt>
                  <c:pt idx="2">
                    <c:v>3-5 yrs</c:v>
                  </c:pt>
                  <c:pt idx="3">
                    <c:v>6+ yrs</c:v>
                  </c:pt>
                </c:lvl>
              </c:multiLvlStrCache>
            </c:multiLvlStrRef>
          </c:cat>
          <c:val>
            <c:numRef>
              <c:f>Sheet1!$B$2:$B$5</c:f>
              <c:numCache>
                <c:formatCode>General</c:formatCode>
                <c:ptCount val="4"/>
                <c:pt idx="0">
                  <c:v>18.9</c:v>
                </c:pt>
                <c:pt idx="1">
                  <c:v>14.7</c:v>
                </c:pt>
                <c:pt idx="2">
                  <c:v>10.1</c:v>
                </c:pt>
                <c:pt idx="3">
                  <c:v>16.3</c:v>
                </c:pt>
              </c:numCache>
            </c:numRef>
          </c:val>
        </c:ser>
        <c:dLbls>
          <c:numFmt formatCode="#,##0" sourceLinked="0"/>
          <c:txPr>
            <a:bodyPr/>
            <a:lstStyle/>
            <a:p>
              <a:pPr>
                <a:defRPr b="0" i="0" strike="noStrike" sz="800" u="none">
                  <a:solidFill>
                    <a:srgbClr val="1F2430"/>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E2761"/>
                </a:solidFill>
                <a:latin typeface="Arial"/>
              </a:defRPr>
            </a:pPr>
            <a:r>
              <a:rPr sz="1250" b="0" i="0" u="none" strike="noStrike">
                <a:solidFill>
                  <a:srgbClr val="1E2761"/>
                </a:solidFill>
                <a:latin typeface="Arial"/>
              </a:rPr>
              <a:t>By Monthly Income</a:t>
            </a:r>
          </a:p>
        </c:rich>
      </c:tx>
      <c:layout/>
      <c:overlay val="0"/>
    </c:title>
    <c:autoTitleDeleted val="0"/>
    <c:plotArea>
      <c:layout/>
      <c:barChart>
        <c:barDir val="col"/>
        <c:grouping val="clustered"/>
        <c:varyColors val="0"/>
        <c:ser>
          <c:idx val="0"/>
          <c:order val="0"/>
          <c:tx>
            <c:strRef>
              <c:f>Sheet1!$B$1</c:f>
              <c:strCache>
                <c:ptCount val="1"/>
                <c:pt idx="0">
                  <c:v>Attrition Rate</c:v>
                </c:pt>
              </c:strCache>
            </c:strRef>
          </c:tx>
          <c:spPr>
            <a:solidFill>
              <a:srgbClr val="1E2761"/>
            </a:solidFill>
            <a:effectLst/>
          </c:spPr>
          <c:invertIfNegative val="0"/>
          <c:dLbls>
            <c:numFmt formatCode="#,##0" sourceLinked="0"/>
            <c:txPr>
              <a:bodyPr/>
              <a:lstStyle/>
              <a:p>
                <a:pPr>
                  <a:defRPr b="0" i="0" strike="noStrike" sz="800" u="none">
                    <a:solidFill>
                      <a:srgbClr val="1F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&lt;3000</c:v>
                  </c:pt>
                  <c:pt idx="1">
                    <c:v>3001-6000</c:v>
                  </c:pt>
                  <c:pt idx="2">
                    <c:v>6001-10000</c:v>
                  </c:pt>
                  <c:pt idx="3">
                    <c:v>10000+</c:v>
                  </c:pt>
                </c:lvl>
              </c:multiLvlStrCache>
            </c:multiLvlStrRef>
          </c:cat>
          <c:val>
            <c:numRef>
              <c:f>Sheet1!$B$2:$B$5</c:f>
              <c:numCache>
                <c:formatCode>General</c:formatCode>
                <c:ptCount val="4"/>
                <c:pt idx="0">
                  <c:v>28.6</c:v>
                </c:pt>
                <c:pt idx="1">
                  <c:v>12.7</c:v>
                </c:pt>
                <c:pt idx="2">
                  <c:v>12</c:v>
                </c:pt>
                <c:pt idx="3">
                  <c:v>8.9</c:v>
                </c:pt>
              </c:numCache>
            </c:numRef>
          </c:val>
        </c:ser>
        <c:dLbls>
          <c:numFmt formatCode="#,##0" sourceLinked="0"/>
          <c:txPr>
            <a:bodyPr/>
            <a:lstStyle/>
            <a:p>
              <a:pPr>
                <a:defRPr b="0" i="0" strike="noStrike" sz="800" u="none">
                  <a:solidFill>
                    <a:srgbClr val="1F2430"/>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Replacement Cost by Department</a:t>
            </a:r>
          </a:p>
        </c:rich>
      </c:tx>
      <c:layout/>
      <c:overlay val="0"/>
    </c:title>
    <c:autoTitleDeleted val="0"/>
    <c:plotArea>
      <c:layout/>
      <c:barChart>
        <c:barDir val="col"/>
        <c:grouping val="clustered"/>
        <c:varyColors val="0"/>
        <c:ser>
          <c:idx val="0"/>
          <c:order val="0"/>
          <c:tx>
            <c:strRef>
              <c:f>Sheet1!$B$1</c:f>
              <c:strCache>
                <c:ptCount val="1"/>
                <c:pt idx="0">
                  <c:v>Cost</c:v>
                </c:pt>
              </c:strCache>
            </c:strRef>
          </c:tx>
          <c:spPr>
            <a:solidFill>
              <a:srgbClr val="1E2761"/>
            </a:solidFill>
            <a:effectLst/>
          </c:spPr>
          <c:invertIfNegative val="0"/>
          <c:dLbls>
            <c:numFmt formatCode="$#,##0,K" sourceLinked="0"/>
            <c:txPr>
              <a:bodyPr/>
              <a:lstStyle/>
              <a:p>
                <a:pPr>
                  <a:defRPr b="0" i="0" strike="noStrike" sz="900" u="none">
                    <a:solidFill>
                      <a:srgbClr val="1F2430"/>
                    </a:solidFill>
                    <a:latin typeface="Arial"/>
                  </a:defRPr>
                </a:pPr>
              </a:p>
            </c:txPr>
            <c:showLegendKey val="0"/>
            <c:showVal val="1"/>
            <c:showCatName val="0"/>
            <c:showSerName val="0"/>
            <c:showPercent val="0"/>
            <c:showBubbleSize val="0"/>
            <c:showLeaderLines val="0"/>
          </c:dLbls>
          <c:cat>
            <c:multiLvlStrRef>
              <c:f>Sheet1!$A$2:$A$4</c:f>
              <c:multiLvlStrCache>
                <c:ptCount val="3"/>
                <c:lvl>
                  <c:pt idx="0">
                    <c:v>Human Resources</c:v>
                  </c:pt>
                  <c:pt idx="1">
                    <c:v>R&amp;D</c:v>
                  </c:pt>
                  <c:pt idx="2">
                    <c:v>Sales</c:v>
                  </c:pt>
                </c:lvl>
              </c:multiLvlStrCache>
            </c:multiLvlStrRef>
          </c:cat>
          <c:val>
            <c:numRef>
              <c:f>Sheet1!$B$2:$B$4</c:f>
              <c:numCache>
                <c:formatCode>General</c:formatCode>
                <c:ptCount val="3"/>
                <c:pt idx="0">
                  <c:v>390126</c:v>
                </c:pt>
                <c:pt idx="1">
                  <c:v>5463012</c:v>
                </c:pt>
                <c:pt idx="2">
                  <c:v>6195975</c:v>
                </c:pt>
              </c:numCache>
            </c:numRef>
          </c:val>
        </c:ser>
        <c:dLbls>
          <c:numFmt formatCode="$#,##0,K" sourceLinked="0"/>
          <c:txPr>
            <a:bodyPr/>
            <a:lstStyle/>
            <a:p>
              <a:pPr>
                <a:defRPr b="0" i="0" strike="noStrike" sz="900" u="none">
                  <a:solidFill>
                    <a:srgbClr val="1F243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0,,M"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Estimated Cost Savings</c:v>
                </c:pt>
              </c:strCache>
            </c:strRef>
          </c:tx>
          <c:spPr>
            <a:solidFill>
              <a:srgbClr val="E8734A"/>
            </a:solidFill>
            <a:ln w="38100" cap="flat">
              <a:solidFill>
                <a:srgbClr val="E8734A"/>
              </a:solidFill>
              <a:prstDash val="solid"/>
              <a:round/>
            </a:ln>
            <a:effectLst/>
          </c:spPr>
          <c:invertIfNegative val="0"/>
          <c:dLbls>
            <c:numFmt formatCode="$#,##0,,&quot;M&quot;" sourceLinked="0"/>
            <c:txPr>
              <a:bodyPr/>
              <a:lstStyle/>
              <a:p>
                <a:pPr>
                  <a:defRPr b="0" i="0" strike="noStrike" sz="1000" u="none">
                    <a:solidFill>
                      <a:srgbClr val="1F2430"/>
                    </a:solidFill>
                    <a:latin typeface="Arial"/>
                  </a:defRPr>
                </a:pPr>
              </a:p>
            </c:txPr>
            <c:dLblPos val="t"/>
            <c:showLegendKey val="0"/>
            <c:showVal val="1"/>
            <c:showCatName val="0"/>
            <c:showSerName val="0"/>
            <c:showPercent val="0"/>
            <c:showBubbleSize val="0"/>
            <c:showLeaderLines val="0"/>
          </c:dLbls>
          <c:marker>
            <c:symbol val="circle"/>
            <c:size val="7"/>
            <c:spPr>
              <a:solidFill>
                <a:srgbClr val="E8734A"/>
              </a:solidFill>
              <a:ln w="9525" cap="flat">
                <a:solidFill>
                  <a:srgbClr val="E8734A"/>
                </a:solidFill>
                <a:prstDash val="solid"/>
                <a:round/>
              </a:ln>
              <a:effectLst/>
            </c:spPr>
          </c:marker>
          <c:cat>
            <c:multiLvlStrRef>
              <c:f>Sheet1!$A$2:$A$5</c:f>
              <c:multiLvlStrCache>
                <c:ptCount val="4"/>
                <c:lvl>
                  <c:pt idx="0">
                    <c:v>10%</c:v>
                  </c:pt>
                  <c:pt idx="1">
                    <c:v>20%</c:v>
                  </c:pt>
                  <c:pt idx="2">
                    <c:v>50%</c:v>
                  </c:pt>
                  <c:pt idx="3">
                    <c:v>100%</c:v>
                  </c:pt>
                </c:lvl>
              </c:multiLvlStrCache>
            </c:multiLvlStrRef>
          </c:cat>
          <c:val>
            <c:numRef>
              <c:f>Sheet1!$B$2:$B$5</c:f>
              <c:numCache>
                <c:formatCode>General</c:formatCode>
                <c:ptCount val="4"/>
                <c:pt idx="0">
                  <c:v>425105</c:v>
                </c:pt>
                <c:pt idx="1">
                  <c:v>850210</c:v>
                </c:pt>
                <c:pt idx="2">
                  <c:v>2125525</c:v>
                </c:pt>
                <c:pt idx="3">
                  <c:v>4251049</c:v>
                </c:pt>
              </c:numCache>
            </c:numRef>
          </c:val>
          <c:smooth val="0"/>
        </c:ser>
        <c:dLbls>
          <c:numFmt formatCode="$#,##0,,&quot;M&quot;" sourceLinked="0"/>
          <c:txPr>
            <a:bodyPr/>
            <a:lstStyle/>
            <a:p>
              <a:pPr>
                <a:defRPr b="0" i="0" strike="noStrike" sz="1000" u="none">
                  <a:solidFill>
                    <a:srgbClr val="1F2430"/>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B7280"/>
                    </a:solidFill>
                    <a:latin typeface="Arial"/>
                  </a:defRPr>
                </a:pPr>
                <a:r>
                  <a:rPr sz="1100" b="0" i="0" u="none" strike="noStrike">
                    <a:solidFill>
                      <a:srgbClr val="6B7280"/>
                    </a:solidFill>
                    <a:latin typeface="Arial"/>
                  </a:rPr>
                  <a:t>% of Overtime Employees Converted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0,,&quot;M&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chart" Target="/ppt/charts/chart9.xml"/><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961120" y="-2011680"/>
            <a:ext cx="5486400" cy="5486400"/>
          </a:xfrm>
          <a:prstGeom prst="ellipse">
            <a:avLst/>
          </a:prstGeom>
          <a:solidFill>
            <a:srgbClr val="27306E"/>
          </a:solidFill>
          <a:ln/>
        </p:spPr>
      </p:sp>
      <p:sp>
        <p:nvSpPr>
          <p:cNvPr id="3" name="Shape 1"/>
          <p:cNvSpPr/>
          <p:nvPr/>
        </p:nvSpPr>
        <p:spPr>
          <a:xfrm>
            <a:off x="-1828800" y="4389120"/>
            <a:ext cx="4572000" cy="4572000"/>
          </a:xfrm>
          <a:prstGeom prst="ellipse">
            <a:avLst/>
          </a:prstGeom>
          <a:solidFill>
            <a:srgbClr val="27306E"/>
          </a:solidFill>
          <a:ln/>
        </p:spPr>
      </p:sp>
      <p:sp>
        <p:nvSpPr>
          <p:cNvPr id="4" name="Text 2"/>
          <p:cNvSpPr txBox="1"/>
          <p:nvPr/>
        </p:nvSpPr>
        <p:spPr>
          <a:xfrm>
            <a:off x="822960" y="233172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HR ATTRITION ANALYSIS</a:t>
            </a:r>
            <a:endParaRPr lang="en-US" sz="4400" dirty="0"/>
          </a:p>
        </p:txBody>
      </p:sp>
      <p:sp>
        <p:nvSpPr>
          <p:cNvPr id="5" name="Text 3"/>
          <p:cNvSpPr txBox="1"/>
          <p:nvPr/>
        </p:nvSpPr>
        <p:spPr>
          <a:xfrm>
            <a:off x="822960" y="3200400"/>
            <a:ext cx="9601200" cy="54864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Predicting employee turnover and building a data-driven retention strategy</a:t>
            </a:r>
            <a:endParaRPr lang="en-US" sz="1800" dirty="0"/>
          </a:p>
        </p:txBody>
      </p:sp>
      <p:sp>
        <p:nvSpPr>
          <p:cNvPr id="6" name="Shape 4"/>
          <p:cNvSpPr/>
          <p:nvPr/>
        </p:nvSpPr>
        <p:spPr>
          <a:xfrm>
            <a:off x="822960" y="3977640"/>
            <a:ext cx="502920" cy="36576"/>
          </a:xfrm>
          <a:prstGeom prst="rect">
            <a:avLst/>
          </a:prstGeom>
          <a:solidFill>
            <a:srgbClr val="E8734A"/>
          </a:solidFill>
          <a:ln/>
        </p:spPr>
      </p:sp>
      <p:sp>
        <p:nvSpPr>
          <p:cNvPr id="7" name="Text 5"/>
          <p:cNvSpPr txBox="1"/>
          <p:nvPr/>
        </p:nvSpPr>
        <p:spPr>
          <a:xfrm>
            <a:off x="822960" y="4297680"/>
            <a:ext cx="10058400" cy="36576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Tools: </a:t>
            </a:r>
            <a:pPr indent="0" marL="0">
              <a:buNone/>
            </a:pPr>
            <a:r>
              <a:rPr lang="en-US" sz="1300" dirty="0">
                <a:solidFill>
                  <a:srgbClr val="FFFFFF"/>
                </a:solidFill>
                <a:latin typeface="Calibri" pitchFamily="34" charset="0"/>
                <a:ea typeface="Calibri" pitchFamily="34" charset="-122"/>
                <a:cs typeface="Calibri" pitchFamily="34" charset="-120"/>
              </a:rPr>
              <a:t>Microsoft Excel (XLOOKUP, PivotTables, What-If Analysis)  •  Python (pandas, scikit-learn)</a:t>
            </a:r>
            <a:endParaRPr lang="en-US" sz="1300" dirty="0"/>
          </a:p>
        </p:txBody>
      </p:sp>
      <p:sp>
        <p:nvSpPr>
          <p:cNvPr id="8" name="Text 6"/>
          <p:cNvSpPr txBox="1"/>
          <p:nvPr/>
        </p:nvSpPr>
        <p:spPr>
          <a:xfrm>
            <a:off x="822960" y="6126480"/>
            <a:ext cx="73152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Shifana Thasni  •  Data Analyst Portfolio Project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Executive Summary</a:t>
            </a:r>
            <a:endParaRPr lang="en-US" sz="3000" dirty="0"/>
          </a:p>
        </p:txBody>
      </p:sp>
      <p:sp>
        <p:nvSpPr>
          <p:cNvPr id="3" name="Shape 1"/>
          <p:cNvSpPr/>
          <p:nvPr/>
        </p:nvSpPr>
        <p:spPr>
          <a:xfrm>
            <a:off x="548640" y="1554480"/>
            <a:ext cx="11091672" cy="1234440"/>
          </a:xfrm>
          <a:prstGeom prst="rect">
            <a:avLst/>
          </a:prstGeom>
          <a:solidFill>
            <a:srgbClr val="F7F8FC"/>
          </a:solidFill>
          <a:ln/>
        </p:spPr>
      </p:sp>
      <p:sp>
        <p:nvSpPr>
          <p:cNvPr id="4" name="Text 2"/>
          <p:cNvSpPr txBox="1"/>
          <p:nvPr/>
        </p:nvSpPr>
        <p:spPr>
          <a:xfrm>
            <a:off x="868680" y="1691640"/>
            <a:ext cx="10469880" cy="960120"/>
          </a:xfrm>
          <a:prstGeom prst="rect">
            <a:avLst/>
          </a:prstGeom>
          <a:noFill/>
          <a:ln/>
        </p:spPr>
        <p:txBody>
          <a:bodyPr wrap="square" lIns="0" tIns="0" rIns="0" bIns="0" rtlCol="0" anchor="ctr"/>
          <a:lstStyle/>
          <a:p>
            <a:pPr indent="0" marL="0">
              <a:buNone/>
            </a:pPr>
            <a:r>
              <a:rPr lang="en-US" sz="1450" dirty="0">
                <a:solidFill>
                  <a:srgbClr val="1F2430"/>
                </a:solidFill>
                <a:latin typeface="Calibri" pitchFamily="34" charset="0"/>
                <a:ea typeface="Calibri" pitchFamily="34" charset="-122"/>
                <a:cs typeface="Calibri" pitchFamily="34" charset="-120"/>
              </a:rPr>
              <a:t>Attrition has cost the company an estimated $12.0M historically, with a further $14.8M currently at risk. Overtime is the single strongest predictor of attrition — employees working overtime leave at nearly 3x the rate of those who don't. A logistic regression model now scores every employee's individual flight risk, giving HR a way to act before people leave rather than after.</a:t>
            </a:r>
            <a:endParaRPr lang="en-US" sz="1450" dirty="0"/>
          </a:p>
        </p:txBody>
      </p:sp>
      <p:sp>
        <p:nvSpPr>
          <p:cNvPr id="5" name="Shape 3"/>
          <p:cNvSpPr/>
          <p:nvPr/>
        </p:nvSpPr>
        <p:spPr>
          <a:xfrm>
            <a:off x="548640" y="3108960"/>
            <a:ext cx="2606040" cy="1554480"/>
          </a:xfrm>
          <a:prstGeom prst="roundRect">
            <a:avLst>
              <a:gd name="adj" fmla="val 4706"/>
            </a:avLst>
          </a:prstGeom>
          <a:solidFill>
            <a:srgbClr val="F7F8FC"/>
          </a:solidFill>
          <a:ln/>
          <a:effectLst>
            <a:outerShdw sx="100000" sy="100000" kx="0" ky="0" algn="bl" rotWithShape="0" blurRad="76200" dist="25400" dir="5400000">
              <a:srgbClr val="9AA5B1">
                <a:alpha val="25000"/>
              </a:srgbClr>
            </a:outerShdw>
          </a:effectLst>
        </p:spPr>
      </p:sp>
      <p:sp>
        <p:nvSpPr>
          <p:cNvPr id="6" name="Text 4"/>
          <p:cNvSpPr txBox="1"/>
          <p:nvPr/>
        </p:nvSpPr>
        <p:spPr>
          <a:xfrm>
            <a:off x="685800" y="3291840"/>
            <a:ext cx="233172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16.1%</a:t>
            </a:r>
            <a:endParaRPr lang="en-US" sz="3000" dirty="0"/>
          </a:p>
        </p:txBody>
      </p:sp>
      <p:sp>
        <p:nvSpPr>
          <p:cNvPr id="7" name="Text 5"/>
          <p:cNvSpPr txBox="1"/>
          <p:nvPr/>
        </p:nvSpPr>
        <p:spPr>
          <a:xfrm>
            <a:off x="685800" y="4023360"/>
            <a:ext cx="2331720" cy="548640"/>
          </a:xfrm>
          <a:prstGeom prst="rect">
            <a:avLst/>
          </a:prstGeom>
          <a:noFill/>
          <a:ln/>
        </p:spPr>
        <p:txBody>
          <a:bodyPr wrap="square" lIns="0" tIns="0" rIns="0" bIns="0" rtlCol="0" anchor="ctr"/>
          <a:lstStyle/>
          <a:p>
            <a:pPr indent="0" marL="0">
              <a:buNone/>
            </a:pPr>
            <a:r>
              <a:rPr lang="en-US" sz="1200" dirty="0">
                <a:solidFill>
                  <a:srgbClr val="1F2430"/>
                </a:solidFill>
                <a:latin typeface="Calibri" pitchFamily="34" charset="0"/>
                <a:ea typeface="Calibri" pitchFamily="34" charset="-122"/>
                <a:cs typeface="Calibri" pitchFamily="34" charset="-120"/>
              </a:rPr>
              <a:t>Overall attrition rate</a:t>
            </a:r>
            <a:endParaRPr lang="en-US" sz="1200" dirty="0"/>
          </a:p>
        </p:txBody>
      </p:sp>
      <p:sp>
        <p:nvSpPr>
          <p:cNvPr id="8" name="Shape 6"/>
          <p:cNvSpPr/>
          <p:nvPr/>
        </p:nvSpPr>
        <p:spPr>
          <a:xfrm>
            <a:off x="3383280" y="3108960"/>
            <a:ext cx="2606040" cy="1554480"/>
          </a:xfrm>
          <a:prstGeom prst="roundRect">
            <a:avLst>
              <a:gd name="adj" fmla="val 4706"/>
            </a:avLst>
          </a:prstGeom>
          <a:solidFill>
            <a:srgbClr val="F7F8FC"/>
          </a:solidFill>
          <a:ln/>
          <a:effectLst>
            <a:outerShdw sx="100000" sy="100000" kx="0" ky="0" algn="bl" rotWithShape="0" blurRad="76200" dist="25400" dir="5400000">
              <a:srgbClr val="9AA5B1">
                <a:alpha val="25000"/>
              </a:srgbClr>
            </a:outerShdw>
          </a:effectLst>
        </p:spPr>
      </p:sp>
      <p:sp>
        <p:nvSpPr>
          <p:cNvPr id="9" name="Text 7"/>
          <p:cNvSpPr txBox="1"/>
          <p:nvPr/>
        </p:nvSpPr>
        <p:spPr>
          <a:xfrm>
            <a:off x="3520440" y="3291840"/>
            <a:ext cx="2331720" cy="685800"/>
          </a:xfrm>
          <a:prstGeom prst="rect">
            <a:avLst/>
          </a:prstGeom>
          <a:noFill/>
          <a:ln/>
        </p:spPr>
        <p:txBody>
          <a:bodyPr wrap="square" lIns="0" tIns="0" rIns="0" bIns="0" rtlCol="0" anchor="ctr"/>
          <a:lstStyle/>
          <a:p>
            <a:pPr indent="0" marL="0">
              <a:buNone/>
            </a:pPr>
            <a:r>
              <a:rPr lang="en-US" sz="3000" b="1" dirty="0">
                <a:solidFill>
                  <a:srgbClr val="E8734A"/>
                </a:solidFill>
                <a:latin typeface="Cambria" pitchFamily="34" charset="0"/>
                <a:ea typeface="Cambria" pitchFamily="34" charset="-122"/>
                <a:cs typeface="Cambria" pitchFamily="34" charset="-120"/>
              </a:rPr>
              <a:t>3x</a:t>
            </a:r>
            <a:endParaRPr lang="en-US" sz="3000" dirty="0"/>
          </a:p>
        </p:txBody>
      </p:sp>
      <p:sp>
        <p:nvSpPr>
          <p:cNvPr id="10" name="Text 8"/>
          <p:cNvSpPr txBox="1"/>
          <p:nvPr/>
        </p:nvSpPr>
        <p:spPr>
          <a:xfrm>
            <a:off x="3520440" y="4023360"/>
            <a:ext cx="2331720" cy="548640"/>
          </a:xfrm>
          <a:prstGeom prst="rect">
            <a:avLst/>
          </a:prstGeom>
          <a:noFill/>
          <a:ln/>
        </p:spPr>
        <p:txBody>
          <a:bodyPr wrap="square" lIns="0" tIns="0" rIns="0" bIns="0" rtlCol="0" anchor="ctr"/>
          <a:lstStyle/>
          <a:p>
            <a:pPr indent="0" marL="0">
              <a:buNone/>
            </a:pPr>
            <a:r>
              <a:rPr lang="en-US" sz="1200" dirty="0">
                <a:solidFill>
                  <a:srgbClr val="1F2430"/>
                </a:solidFill>
                <a:latin typeface="Calibri" pitchFamily="34" charset="0"/>
                <a:ea typeface="Calibri" pitchFamily="34" charset="-122"/>
                <a:cs typeface="Calibri" pitchFamily="34" charset="-120"/>
              </a:rPr>
              <a:t>Higher attrition with overtime</a:t>
            </a:r>
            <a:endParaRPr lang="en-US" sz="1200" dirty="0"/>
          </a:p>
        </p:txBody>
      </p:sp>
      <p:sp>
        <p:nvSpPr>
          <p:cNvPr id="11" name="Shape 9"/>
          <p:cNvSpPr/>
          <p:nvPr/>
        </p:nvSpPr>
        <p:spPr>
          <a:xfrm>
            <a:off x="6217920" y="3108960"/>
            <a:ext cx="2606040" cy="1554480"/>
          </a:xfrm>
          <a:prstGeom prst="roundRect">
            <a:avLst>
              <a:gd name="adj" fmla="val 4706"/>
            </a:avLst>
          </a:prstGeom>
          <a:solidFill>
            <a:srgbClr val="F7F8FC"/>
          </a:solidFill>
          <a:ln/>
          <a:effectLst>
            <a:outerShdw sx="100000" sy="100000" kx="0" ky="0" algn="bl" rotWithShape="0" blurRad="76200" dist="25400" dir="5400000">
              <a:srgbClr val="9AA5B1">
                <a:alpha val="25000"/>
              </a:srgbClr>
            </a:outerShdw>
          </a:effectLst>
        </p:spPr>
      </p:sp>
      <p:sp>
        <p:nvSpPr>
          <p:cNvPr id="12" name="Text 10"/>
          <p:cNvSpPr txBox="1"/>
          <p:nvPr/>
        </p:nvSpPr>
        <p:spPr>
          <a:xfrm>
            <a:off x="6355080" y="3291840"/>
            <a:ext cx="233172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$12.0M</a:t>
            </a:r>
            <a:endParaRPr lang="en-US" sz="3000" dirty="0"/>
          </a:p>
        </p:txBody>
      </p:sp>
      <p:sp>
        <p:nvSpPr>
          <p:cNvPr id="13" name="Text 11"/>
          <p:cNvSpPr txBox="1"/>
          <p:nvPr/>
        </p:nvSpPr>
        <p:spPr>
          <a:xfrm>
            <a:off x="6355080" y="4023360"/>
            <a:ext cx="2331720" cy="548640"/>
          </a:xfrm>
          <a:prstGeom prst="rect">
            <a:avLst/>
          </a:prstGeom>
          <a:noFill/>
          <a:ln/>
        </p:spPr>
        <p:txBody>
          <a:bodyPr wrap="square" lIns="0" tIns="0" rIns="0" bIns="0" rtlCol="0" anchor="ctr"/>
          <a:lstStyle/>
          <a:p>
            <a:pPr indent="0" marL="0">
              <a:buNone/>
            </a:pPr>
            <a:r>
              <a:rPr lang="en-US" sz="1200" dirty="0">
                <a:solidFill>
                  <a:srgbClr val="1F2430"/>
                </a:solidFill>
                <a:latin typeface="Calibri" pitchFamily="34" charset="0"/>
                <a:ea typeface="Calibri" pitchFamily="34" charset="-122"/>
                <a:cs typeface="Calibri" pitchFamily="34" charset="-120"/>
              </a:rPr>
              <a:t>Historical replacement cost</a:t>
            </a:r>
            <a:endParaRPr lang="en-US" sz="1200" dirty="0"/>
          </a:p>
        </p:txBody>
      </p:sp>
      <p:sp>
        <p:nvSpPr>
          <p:cNvPr id="14" name="Shape 12"/>
          <p:cNvSpPr/>
          <p:nvPr/>
        </p:nvSpPr>
        <p:spPr>
          <a:xfrm>
            <a:off x="9052560" y="3108960"/>
            <a:ext cx="2606040" cy="1554480"/>
          </a:xfrm>
          <a:prstGeom prst="roundRect">
            <a:avLst>
              <a:gd name="adj" fmla="val 4706"/>
            </a:avLst>
          </a:prstGeom>
          <a:solidFill>
            <a:srgbClr val="F7F8FC"/>
          </a:solidFill>
          <a:ln/>
          <a:effectLst>
            <a:outerShdw sx="100000" sy="100000" kx="0" ky="0" algn="bl" rotWithShape="0" blurRad="76200" dist="25400" dir="5400000">
              <a:srgbClr val="9AA5B1">
                <a:alpha val="25000"/>
              </a:srgbClr>
            </a:outerShdw>
          </a:effectLst>
        </p:spPr>
      </p:sp>
      <p:sp>
        <p:nvSpPr>
          <p:cNvPr id="15" name="Text 13"/>
          <p:cNvSpPr txBox="1"/>
          <p:nvPr/>
        </p:nvSpPr>
        <p:spPr>
          <a:xfrm>
            <a:off x="9189720" y="3291840"/>
            <a:ext cx="2331720" cy="685800"/>
          </a:xfrm>
          <a:prstGeom prst="rect">
            <a:avLst/>
          </a:prstGeom>
          <a:noFill/>
          <a:ln/>
        </p:spPr>
        <p:txBody>
          <a:bodyPr wrap="square" lIns="0" tIns="0" rIns="0" bIns="0" rtlCol="0" anchor="ctr"/>
          <a:lstStyle/>
          <a:p>
            <a:pPr indent="0" marL="0">
              <a:buNone/>
            </a:pPr>
            <a:r>
              <a:rPr lang="en-US" sz="3000" b="1" dirty="0">
                <a:solidFill>
                  <a:srgbClr val="E8734A"/>
                </a:solidFill>
                <a:latin typeface="Cambria" pitchFamily="34" charset="0"/>
                <a:ea typeface="Cambria" pitchFamily="34" charset="-122"/>
                <a:cs typeface="Cambria" pitchFamily="34" charset="-120"/>
              </a:rPr>
              <a:t>$14.8M</a:t>
            </a:r>
            <a:endParaRPr lang="en-US" sz="3000" dirty="0"/>
          </a:p>
        </p:txBody>
      </p:sp>
      <p:sp>
        <p:nvSpPr>
          <p:cNvPr id="16" name="Text 14"/>
          <p:cNvSpPr txBox="1"/>
          <p:nvPr/>
        </p:nvSpPr>
        <p:spPr>
          <a:xfrm>
            <a:off x="9189720" y="4023360"/>
            <a:ext cx="2331720" cy="548640"/>
          </a:xfrm>
          <a:prstGeom prst="rect">
            <a:avLst/>
          </a:prstGeom>
          <a:noFill/>
          <a:ln/>
        </p:spPr>
        <p:txBody>
          <a:bodyPr wrap="square" lIns="0" tIns="0" rIns="0" bIns="0" rtlCol="0" anchor="ctr"/>
          <a:lstStyle/>
          <a:p>
            <a:pPr indent="0" marL="0">
              <a:buNone/>
            </a:pPr>
            <a:r>
              <a:rPr lang="en-US" sz="1200" dirty="0">
                <a:solidFill>
                  <a:srgbClr val="1F2430"/>
                </a:solidFill>
                <a:latin typeface="Calibri" pitchFamily="34" charset="0"/>
                <a:ea typeface="Calibri" pitchFamily="34" charset="-122"/>
                <a:cs typeface="Calibri" pitchFamily="34" charset="-120"/>
              </a:rPr>
              <a:t>Projected cost — high-risk group</a:t>
            </a:r>
            <a:endParaRPr lang="en-US" sz="1200" dirty="0"/>
          </a:p>
        </p:txBody>
      </p:sp>
      <p:sp>
        <p:nvSpPr>
          <p:cNvPr id="17" name="Text 15"/>
          <p:cNvSpPr txBox="1"/>
          <p:nvPr/>
        </p:nvSpPr>
        <p:spPr>
          <a:xfrm>
            <a:off x="548640" y="5074920"/>
            <a:ext cx="11064240" cy="548640"/>
          </a:xfrm>
          <a:prstGeom prst="rect">
            <a:avLst/>
          </a:prstGeom>
          <a:noFill/>
          <a:ln/>
        </p:spPr>
        <p:txBody>
          <a:bodyPr wrap="square" lIns="0" tIns="0" rIns="0" bIns="0" rtlCol="0" anchor="ctr"/>
          <a:lstStyle/>
          <a:p>
            <a:pPr indent="0" marL="0">
              <a:buNone/>
            </a:pPr>
            <a:r>
              <a:rPr lang="en-US" sz="1300" i="1" dirty="0">
                <a:solidFill>
                  <a:srgbClr val="1E2761"/>
                </a:solidFill>
                <a:latin typeface="Calibri" pitchFamily="34" charset="0"/>
                <a:ea typeface="Calibri" pitchFamily="34" charset="-122"/>
                <a:cs typeface="Calibri" pitchFamily="34" charset="-120"/>
              </a:rPr>
              <a:t>Top Priority: Reduce overtime dependency and target retention efforts in Sales, the department with both the highest attrition rate and highest total cost.</a:t>
            </a:r>
            <a:endParaRPr lang="en-US" sz="1300" dirty="0"/>
          </a:p>
        </p:txBody>
      </p:sp>
      <p:sp>
        <p:nvSpPr>
          <p:cNvPr id="18" name="Text 16"/>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HR Attrition Analysis  |  Predicting &amp; Preventing Employee Turnover</a:t>
            </a:r>
            <a:endParaRPr lang="en-US" sz="900" dirty="0"/>
          </a:p>
        </p:txBody>
      </p:sp>
      <p:sp>
        <p:nvSpPr>
          <p:cNvPr id="19" name="Text 17"/>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Who Is Leaving?</a:t>
            </a:r>
            <a:endParaRPr lang="en-US" sz="30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Attrition rate by demographic segment</a:t>
            </a:r>
            <a:endParaRPr lang="en-US" sz="1400" dirty="0"/>
          </a:p>
        </p:txBody>
      </p:sp>
      <p:graphicFrame>
        <p:nvGraphicFramePr>
          <p:cNvPr id="4" name="Chart 0" descr=""/>
          <p:cNvGraphicFramePr/>
          <p:nvPr/>
        </p:nvGraphicFramePr>
        <p:xfrm>
          <a:off x="548640" y="1371600"/>
          <a:ext cx="5394960" cy="19659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72200" y="1371600"/>
          <a:ext cx="5394960" cy="196596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548640" y="3520440"/>
          <a:ext cx="5394960" cy="1965960"/>
        </p:xfrm>
        <a:graphic xmlns:a="http://schemas.openxmlformats.org/drawingml/2006/main">
          <a:graphicData uri="http://schemas.openxmlformats.org/drawingml/2006/chart">
            <c:chart xmlns:c="http://schemas.openxmlformats.org/drawingml/2006/chart" r:id="rId3"/>
          </a:graphicData>
        </a:graphic>
      </p:graphicFrame>
      <p:graphicFrame>
        <p:nvGraphicFramePr>
          <p:cNvPr id="7" name="Chart 3" descr=""/>
          <p:cNvGraphicFramePr/>
          <p:nvPr/>
        </p:nvGraphicFramePr>
        <p:xfrm>
          <a:off x="6172200" y="3520440"/>
          <a:ext cx="5394960" cy="1965960"/>
        </p:xfrm>
        <a:graphic xmlns:a="http://schemas.openxmlformats.org/drawingml/2006/main">
          <a:graphicData uri="http://schemas.openxmlformats.org/drawingml/2006/chart">
            <c:chart xmlns:c="http://schemas.openxmlformats.org/drawingml/2006/chart" r:id="rId4"/>
          </a:graphicData>
        </a:graphic>
      </p:graphicFrame>
      <p:sp>
        <p:nvSpPr>
          <p:cNvPr id="8" name="Shape 2"/>
          <p:cNvSpPr/>
          <p:nvPr/>
        </p:nvSpPr>
        <p:spPr>
          <a:xfrm>
            <a:off x="548640" y="5623560"/>
            <a:ext cx="11091672" cy="777240"/>
          </a:xfrm>
          <a:prstGeom prst="roundRect">
            <a:avLst>
              <a:gd name="adj" fmla="val 9412"/>
            </a:avLst>
          </a:prstGeom>
          <a:solidFill>
            <a:srgbClr val="F7F8FC"/>
          </a:solidFill>
          <a:ln/>
        </p:spPr>
      </p:sp>
      <p:sp>
        <p:nvSpPr>
          <p:cNvPr id="9" name="Text 3"/>
          <p:cNvSpPr txBox="1"/>
          <p:nvPr/>
        </p:nvSpPr>
        <p:spPr>
          <a:xfrm>
            <a:off x="777240" y="5715000"/>
            <a:ext cx="10607040" cy="59436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Key takeaway:  </a:t>
            </a:r>
            <a:pPr indent="0" marL="0">
              <a:buNone/>
            </a:pPr>
            <a:r>
              <a:rPr lang="en-US" sz="1150" dirty="0">
                <a:solidFill>
                  <a:srgbClr val="1F2430"/>
                </a:solidFill>
                <a:latin typeface="Calibri" pitchFamily="34" charset="0"/>
                <a:ea typeface="Calibri" pitchFamily="34" charset="-122"/>
                <a:cs typeface="Calibri" pitchFamily="34" charset="-120"/>
              </a:rPr>
              <a:t>Younger, single employees with longer commutes show the highest attrition risk. Employees aged 18–25 leave at more than double the company average, and single employees leave at 2x the rate of married colleagues. Gender shows only a small gap and is a weaker signal by comparison.</a:t>
            </a:r>
            <a:endParaRPr lang="en-US" sz="1150" dirty="0"/>
          </a:p>
        </p:txBody>
      </p:sp>
      <p:sp>
        <p:nvSpPr>
          <p:cNvPr id="10" name="Text 4"/>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HR Attrition Analysis  |  Predicting &amp; Preventing Employee Turnover</a:t>
            </a:r>
            <a:endParaRPr lang="en-US" sz="900" dirty="0"/>
          </a:p>
        </p:txBody>
      </p:sp>
      <p:sp>
        <p:nvSpPr>
          <p:cNvPr id="11" name="Text 5"/>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Satisfaction &amp; Work-Life Balance</a:t>
            </a:r>
            <a:endParaRPr lang="en-US" sz="30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Which experience factors matter most</a:t>
            </a:r>
            <a:endParaRPr lang="en-US" sz="1400" dirty="0"/>
          </a:p>
        </p:txBody>
      </p:sp>
      <p:graphicFrame>
        <p:nvGraphicFramePr>
          <p:cNvPr id="4" name="Chart 0" descr=""/>
          <p:cNvGraphicFramePr/>
          <p:nvPr/>
        </p:nvGraphicFramePr>
        <p:xfrm>
          <a:off x="548640" y="1417320"/>
          <a:ext cx="5394960" cy="26060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72200" y="1417320"/>
          <a:ext cx="5394960" cy="260604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48640" y="4251960"/>
            <a:ext cx="11091672" cy="1965960"/>
          </a:xfrm>
          <a:prstGeom prst="roundRect">
            <a:avLst>
              <a:gd name="adj" fmla="val 3721"/>
            </a:avLst>
          </a:prstGeom>
          <a:solidFill>
            <a:srgbClr val="F7F8FC"/>
          </a:solidFill>
          <a:ln/>
        </p:spPr>
      </p:sp>
      <p:sp>
        <p:nvSpPr>
          <p:cNvPr id="7" name="Text 3"/>
          <p:cNvSpPr txBox="1"/>
          <p:nvPr/>
        </p:nvSpPr>
        <p:spPr>
          <a:xfrm>
            <a:off x="822960" y="4480560"/>
            <a:ext cx="105156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Key takeaway</a:t>
            </a:r>
            <a:endParaRPr lang="en-US" sz="1300" dirty="0"/>
          </a:p>
        </p:txBody>
      </p:sp>
      <p:sp>
        <p:nvSpPr>
          <p:cNvPr id="8" name="Text 4"/>
          <p:cNvSpPr txBox="1"/>
          <p:nvPr/>
        </p:nvSpPr>
        <p:spPr>
          <a:xfrm>
            <a:off x="822960" y="4846320"/>
            <a:ext cx="10515600" cy="1234440"/>
          </a:xfrm>
          <a:prstGeom prst="rect">
            <a:avLst/>
          </a:prstGeom>
          <a:noFill/>
          <a:ln/>
        </p:spPr>
        <p:txBody>
          <a:bodyPr wrap="square" lIns="0" tIns="0" rIns="0" bIns="0" rtlCol="0" anchor="ctr"/>
          <a:lstStyle/>
          <a:p>
            <a:pPr indent="0" marL="0">
              <a:buNone/>
            </a:pPr>
            <a:r>
              <a:rPr lang="en-US" sz="1300" dirty="0">
                <a:solidFill>
                  <a:srgbClr val="1F2430"/>
                </a:solidFill>
                <a:latin typeface="Calibri" pitchFamily="34" charset="0"/>
                <a:ea typeface="Calibri" pitchFamily="34" charset="-122"/>
                <a:cs typeface="Calibri" pitchFamily="34" charset="-120"/>
              </a:rPr>
              <a:t>Work-Life Balance and Environment Satisfaction both show a sharp cliff at their lowest level — employees reporting "Bad" work-life balance leave at nearly double the rate of every other group. Job Satisfaction shows a more gradual decline, suggesting environment and workload pressure are more acute risk factors than day-to-day job enjoyment.</a:t>
            </a:r>
            <a:endParaRPr lang="en-US" sz="1300" dirty="0"/>
          </a:p>
        </p:txBody>
      </p:sp>
      <p:sp>
        <p:nvSpPr>
          <p:cNvPr id="9" name="Text 5"/>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HR Attrition Analysis  |  Predicting &amp; Preventing Employee Turnover</a:t>
            </a:r>
            <a:endParaRPr lang="en-US" sz="900" dirty="0"/>
          </a:p>
        </p:txBody>
      </p:sp>
      <p:sp>
        <p:nvSpPr>
          <p:cNvPr id="10" name="Text 6"/>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502920"/>
            <a:ext cx="1106424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Strongest Predictor: Overtime</a:t>
            </a:r>
            <a:endParaRPr lang="en-US" sz="3000" dirty="0"/>
          </a:p>
        </p:txBody>
      </p:sp>
      <p:sp>
        <p:nvSpPr>
          <p:cNvPr id="3" name="Text 1"/>
          <p:cNvSpPr txBox="1"/>
          <p:nvPr/>
        </p:nvSpPr>
        <p:spPr>
          <a:xfrm>
            <a:off x="548640" y="1143000"/>
            <a:ext cx="1106424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 single factor separates high-risk employees from the rest more than any other variable tested</a:t>
            </a:r>
            <a:endParaRPr lang="en-US" sz="1400" dirty="0"/>
          </a:p>
        </p:txBody>
      </p:sp>
      <p:sp>
        <p:nvSpPr>
          <p:cNvPr id="4" name="Shape 2"/>
          <p:cNvSpPr/>
          <p:nvPr/>
        </p:nvSpPr>
        <p:spPr>
          <a:xfrm>
            <a:off x="822960" y="1965960"/>
            <a:ext cx="4846320" cy="3200400"/>
          </a:xfrm>
          <a:prstGeom prst="roundRect">
            <a:avLst>
              <a:gd name="adj" fmla="val 2857"/>
            </a:avLst>
          </a:prstGeom>
          <a:solidFill>
            <a:srgbClr val="27306E"/>
          </a:solidFill>
          <a:ln/>
        </p:spPr>
      </p:sp>
      <p:sp>
        <p:nvSpPr>
          <p:cNvPr id="5" name="Text 3"/>
          <p:cNvSpPr txBox="1"/>
          <p:nvPr/>
        </p:nvSpPr>
        <p:spPr>
          <a:xfrm>
            <a:off x="822960" y="2331720"/>
            <a:ext cx="4846320" cy="1005840"/>
          </a:xfrm>
          <a:prstGeom prst="rect">
            <a:avLst/>
          </a:prstGeom>
          <a:noFill/>
          <a:ln/>
        </p:spPr>
        <p:txBody>
          <a:bodyPr wrap="square" lIns="0" tIns="0" rIns="0" bIns="0" rtlCol="0" anchor="ctr"/>
          <a:lstStyle/>
          <a:p>
            <a:pPr algn="ctr" indent="0" marL="0">
              <a:buNone/>
            </a:pPr>
            <a:r>
              <a:rPr lang="en-US" sz="5600" b="1" dirty="0">
                <a:solidFill>
                  <a:srgbClr val="CADCFC"/>
                </a:solidFill>
                <a:latin typeface="Cambria" pitchFamily="34" charset="0"/>
                <a:ea typeface="Cambria" pitchFamily="34" charset="-122"/>
                <a:cs typeface="Cambria" pitchFamily="34" charset="-120"/>
              </a:rPr>
              <a:t>10.4%</a:t>
            </a:r>
            <a:endParaRPr lang="en-US" sz="5600" dirty="0"/>
          </a:p>
        </p:txBody>
      </p:sp>
      <p:sp>
        <p:nvSpPr>
          <p:cNvPr id="6" name="Text 4"/>
          <p:cNvSpPr txBox="1"/>
          <p:nvPr/>
        </p:nvSpPr>
        <p:spPr>
          <a:xfrm>
            <a:off x="822960" y="3383280"/>
            <a:ext cx="4846320" cy="36576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Attrition rate — No Overtime</a:t>
            </a:r>
            <a:endParaRPr lang="en-US" sz="1500" dirty="0"/>
          </a:p>
        </p:txBody>
      </p:sp>
      <p:sp>
        <p:nvSpPr>
          <p:cNvPr id="7" name="Text 5"/>
          <p:cNvSpPr txBox="1"/>
          <p:nvPr/>
        </p:nvSpPr>
        <p:spPr>
          <a:xfrm>
            <a:off x="1188720" y="3931920"/>
            <a:ext cx="4114800" cy="100584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Employees maintaining a standard workload leave at a rate close to the company baseline.</a:t>
            </a:r>
            <a:endParaRPr lang="en-US" sz="1200" dirty="0"/>
          </a:p>
        </p:txBody>
      </p:sp>
      <p:sp>
        <p:nvSpPr>
          <p:cNvPr id="8" name="Shape 6"/>
          <p:cNvSpPr/>
          <p:nvPr/>
        </p:nvSpPr>
        <p:spPr>
          <a:xfrm>
            <a:off x="6492240" y="1965960"/>
            <a:ext cx="4846320" cy="3200400"/>
          </a:xfrm>
          <a:prstGeom prst="roundRect">
            <a:avLst>
              <a:gd name="adj" fmla="val 2857"/>
            </a:avLst>
          </a:prstGeom>
          <a:solidFill>
            <a:srgbClr val="E8734A"/>
          </a:solidFill>
          <a:ln/>
        </p:spPr>
      </p:sp>
      <p:sp>
        <p:nvSpPr>
          <p:cNvPr id="9" name="Text 7"/>
          <p:cNvSpPr txBox="1"/>
          <p:nvPr/>
        </p:nvSpPr>
        <p:spPr>
          <a:xfrm>
            <a:off x="6492240" y="2331720"/>
            <a:ext cx="4846320" cy="100584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30.5%</a:t>
            </a:r>
            <a:endParaRPr lang="en-US" sz="5600" dirty="0"/>
          </a:p>
        </p:txBody>
      </p:sp>
      <p:sp>
        <p:nvSpPr>
          <p:cNvPr id="10" name="Text 8"/>
          <p:cNvSpPr txBox="1"/>
          <p:nvPr/>
        </p:nvSpPr>
        <p:spPr>
          <a:xfrm>
            <a:off x="6492240" y="3383280"/>
            <a:ext cx="4846320" cy="36576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Attrition rate — Works Overtime</a:t>
            </a:r>
            <a:endParaRPr lang="en-US" sz="1500" dirty="0"/>
          </a:p>
        </p:txBody>
      </p:sp>
      <p:sp>
        <p:nvSpPr>
          <p:cNvPr id="11" name="Text 9"/>
          <p:cNvSpPr txBox="1"/>
          <p:nvPr/>
        </p:nvSpPr>
        <p:spPr>
          <a:xfrm>
            <a:off x="6858000" y="3931920"/>
            <a:ext cx="4114800" cy="1005840"/>
          </a:xfrm>
          <a:prstGeom prst="rect">
            <a:avLst/>
          </a:prstGeom>
          <a:noFill/>
          <a:ln/>
        </p:spPr>
        <p:txBody>
          <a:bodyPr wrap="square" lIns="0" tIns="0" rIns="0" bIns="0" rtlCol="0" anchor="ctr"/>
          <a:lstStyle/>
          <a:p>
            <a:pPr algn="ctr" indent="0" marL="0">
              <a:buNone/>
            </a:pPr>
            <a:r>
              <a:rPr lang="en-US" sz="1200" dirty="0">
                <a:solidFill>
                  <a:srgbClr val="FFF1EC"/>
                </a:solidFill>
                <a:latin typeface="Calibri" pitchFamily="34" charset="0"/>
                <a:ea typeface="Calibri" pitchFamily="34" charset="-122"/>
                <a:cs typeface="Calibri" pitchFamily="34" charset="-120"/>
              </a:rPr>
              <a:t>Nearly 1 in 3 employees working overtime leave the company — almost 3x the non-overtime rate.</a:t>
            </a:r>
            <a:endParaRPr lang="en-US" sz="1200" dirty="0"/>
          </a:p>
        </p:txBody>
      </p:sp>
      <p:sp>
        <p:nvSpPr>
          <p:cNvPr id="12" name="Text 10"/>
          <p:cNvSpPr txBox="1"/>
          <p:nvPr/>
        </p:nvSpPr>
        <p:spPr>
          <a:xfrm>
            <a:off x="822960" y="5577840"/>
            <a:ext cx="10515600" cy="457200"/>
          </a:xfrm>
          <a:prstGeom prst="rect">
            <a:avLst/>
          </a:prstGeom>
          <a:noFill/>
          <a:ln/>
        </p:spPr>
        <p:txBody>
          <a:bodyPr wrap="square" lIns="0" tIns="0" rIns="0" bIns="0" rtlCol="0" anchor="ctr"/>
          <a:lstStyle/>
          <a:p>
            <a:pPr indent="0" marL="0">
              <a:buNone/>
            </a:pPr>
            <a:r>
              <a:rPr lang="en-US" sz="1250" i="1" dirty="0">
                <a:solidFill>
                  <a:srgbClr val="CADCFC"/>
                </a:solidFill>
                <a:latin typeface="Calibri" pitchFamily="34" charset="0"/>
                <a:ea typeface="Calibri" pitchFamily="34" charset="-122"/>
                <a:cs typeface="Calibri" pitchFamily="34" charset="-120"/>
              </a:rPr>
              <a:t>This single finding drove the what-if overtime-reduction scenario and cost-savings model later in this report.</a:t>
            </a:r>
            <a:endParaRPr lang="en-US" sz="1250" dirty="0"/>
          </a:p>
        </p:txBody>
      </p:sp>
      <p:sp>
        <p:nvSpPr>
          <p:cNvPr id="13"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HR Attrition Analysis  |  Predicting &amp; Preventing Employee Turnover</a:t>
            </a:r>
            <a:endParaRPr lang="en-US" sz="900" dirty="0"/>
          </a:p>
        </p:txBody>
      </p:sp>
      <p:sp>
        <p:nvSpPr>
          <p:cNvPr id="14" name="Text 12"/>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Tenure, Promotion &amp; Income</a:t>
            </a:r>
            <a:endParaRPr lang="en-US" sz="30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Structural factors behind who stays</a:t>
            </a:r>
            <a:endParaRPr lang="en-US" sz="1400" dirty="0"/>
          </a:p>
        </p:txBody>
      </p:sp>
      <p:graphicFrame>
        <p:nvGraphicFramePr>
          <p:cNvPr id="4" name="Chart 0" descr=""/>
          <p:cNvGraphicFramePr/>
          <p:nvPr/>
        </p:nvGraphicFramePr>
        <p:xfrm>
          <a:off x="548640" y="1417320"/>
          <a:ext cx="3611880" cy="26060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297680" y="1417320"/>
          <a:ext cx="3611880" cy="260604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8046720" y="1417320"/>
          <a:ext cx="3611880" cy="2606040"/>
        </p:xfrm>
        <a:graphic xmlns:a="http://schemas.openxmlformats.org/drawingml/2006/main">
          <a:graphicData uri="http://schemas.openxmlformats.org/drawingml/2006/chart">
            <c:chart xmlns:c="http://schemas.openxmlformats.org/drawingml/2006/chart" r:id="rId3"/>
          </a:graphicData>
        </a:graphic>
      </p:graphicFrame>
      <p:sp>
        <p:nvSpPr>
          <p:cNvPr id="7" name="Shape 2"/>
          <p:cNvSpPr/>
          <p:nvPr/>
        </p:nvSpPr>
        <p:spPr>
          <a:xfrm>
            <a:off x="548640" y="4251960"/>
            <a:ext cx="11091672" cy="1965960"/>
          </a:xfrm>
          <a:prstGeom prst="roundRect">
            <a:avLst>
              <a:gd name="adj" fmla="val 3721"/>
            </a:avLst>
          </a:prstGeom>
          <a:solidFill>
            <a:srgbClr val="F7F8FC"/>
          </a:solidFill>
          <a:ln/>
        </p:spPr>
      </p:sp>
      <p:sp>
        <p:nvSpPr>
          <p:cNvPr id="8" name="Text 3"/>
          <p:cNvSpPr txBox="1"/>
          <p:nvPr/>
        </p:nvSpPr>
        <p:spPr>
          <a:xfrm>
            <a:off x="822960" y="4480560"/>
            <a:ext cx="105156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Key takeaway</a:t>
            </a:r>
            <a:endParaRPr lang="en-US" sz="1300" dirty="0"/>
          </a:p>
        </p:txBody>
      </p:sp>
      <p:sp>
        <p:nvSpPr>
          <p:cNvPr id="9" name="Text 4"/>
          <p:cNvSpPr txBox="1"/>
          <p:nvPr/>
        </p:nvSpPr>
        <p:spPr>
          <a:xfrm>
            <a:off x="822960" y="4846320"/>
            <a:ext cx="10515600" cy="1234440"/>
          </a:xfrm>
          <a:prstGeom prst="rect">
            <a:avLst/>
          </a:prstGeom>
          <a:noFill/>
          <a:ln/>
        </p:spPr>
        <p:txBody>
          <a:bodyPr wrap="square" lIns="0" tIns="0" rIns="0" bIns="0" rtlCol="0" anchor="ctr"/>
          <a:lstStyle/>
          <a:p>
            <a:pPr indent="0" marL="0">
              <a:buNone/>
            </a:pPr>
            <a:r>
              <a:rPr lang="en-US" sz="1300" dirty="0">
                <a:solidFill>
                  <a:srgbClr val="1F2430"/>
                </a:solidFill>
                <a:latin typeface="Calibri" pitchFamily="34" charset="0"/>
                <a:ea typeface="Calibri" pitchFamily="34" charset="-122"/>
                <a:cs typeface="Calibri" pitchFamily="34" charset="-120"/>
              </a:rPr>
              <a:t>New employees (0–2 years) are almost 4x more likely to leave than tenured staff, making early engagement critical. Income shows a strong effect at the lowest bracket (under $3,000/mo) that plateaus above roughly $3,000 — pay raises help most for the lowest earners, with diminishing returns beyond that point.</a:t>
            </a:r>
            <a:endParaRPr lang="en-US" sz="1300" dirty="0"/>
          </a:p>
        </p:txBody>
      </p:sp>
      <p:sp>
        <p:nvSpPr>
          <p:cNvPr id="10" name="Text 5"/>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HR Attrition Analysis  |  Predicting &amp; Preventing Employee Turnover</a:t>
            </a:r>
            <a:endParaRPr lang="en-US" sz="900" dirty="0"/>
          </a:p>
        </p:txBody>
      </p:sp>
      <p:sp>
        <p:nvSpPr>
          <p:cNvPr id="11" name="Text 6"/>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Predicting Individual Risk</a:t>
            </a:r>
            <a:endParaRPr lang="en-US" sz="30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 logistic regression model scores every employee's likelihood of leaving</a:t>
            </a:r>
            <a:endParaRPr lang="en-US" sz="1400" dirty="0"/>
          </a:p>
        </p:txBody>
      </p:sp>
      <p:sp>
        <p:nvSpPr>
          <p:cNvPr id="4" name="Shape 2"/>
          <p:cNvSpPr/>
          <p:nvPr/>
        </p:nvSpPr>
        <p:spPr>
          <a:xfrm>
            <a:off x="548640" y="1463040"/>
            <a:ext cx="5120640" cy="4572000"/>
          </a:xfrm>
          <a:prstGeom prst="roundRect">
            <a:avLst>
              <a:gd name="adj" fmla="val 1600"/>
            </a:avLst>
          </a:prstGeom>
          <a:solidFill>
            <a:srgbClr val="F7F8FC"/>
          </a:solidFill>
          <a:ln/>
        </p:spPr>
      </p:sp>
      <p:sp>
        <p:nvSpPr>
          <p:cNvPr id="5" name="Text 3"/>
          <p:cNvSpPr txBox="1"/>
          <p:nvPr/>
        </p:nvSpPr>
        <p:spPr>
          <a:xfrm>
            <a:off x="822960" y="1645920"/>
            <a:ext cx="457200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Model Approach</a:t>
            </a:r>
            <a:endParaRPr lang="en-US" sz="1500" dirty="0"/>
          </a:p>
        </p:txBody>
      </p:sp>
      <p:sp>
        <p:nvSpPr>
          <p:cNvPr id="6" name="Shape 4"/>
          <p:cNvSpPr/>
          <p:nvPr/>
        </p:nvSpPr>
        <p:spPr>
          <a:xfrm>
            <a:off x="868680" y="2203704"/>
            <a:ext cx="109728" cy="109728"/>
          </a:xfrm>
          <a:prstGeom prst="ellipse">
            <a:avLst/>
          </a:prstGeom>
          <a:solidFill>
            <a:srgbClr val="E8734A"/>
          </a:solidFill>
          <a:ln/>
        </p:spPr>
      </p:sp>
      <p:sp>
        <p:nvSpPr>
          <p:cNvPr id="7" name="Text 5"/>
          <p:cNvSpPr txBox="1"/>
          <p:nvPr/>
        </p:nvSpPr>
        <p:spPr>
          <a:xfrm>
            <a:off x="1143000" y="2075688"/>
            <a:ext cx="4343400" cy="777240"/>
          </a:xfrm>
          <a:prstGeom prst="rect">
            <a:avLst/>
          </a:prstGeom>
          <a:noFill/>
          <a:ln/>
        </p:spPr>
        <p:txBody>
          <a:bodyPr wrap="square" lIns="0" tIns="0" rIns="0" bIns="0" rtlCol="0" anchor="ctr"/>
          <a:lstStyle/>
          <a:p>
            <a:pPr indent="0" marL="0">
              <a:buNone/>
            </a:pPr>
            <a:r>
              <a:rPr lang="en-US" sz="1200" dirty="0">
                <a:solidFill>
                  <a:srgbClr val="1F2430"/>
                </a:solidFill>
                <a:latin typeface="Calibri" pitchFamily="34" charset="0"/>
                <a:ea typeface="Calibri" pitchFamily="34" charset="-122"/>
                <a:cs typeface="Calibri" pitchFamily="34" charset="-120"/>
              </a:rPr>
              <a:t>Trained on 9 factors: income, satisfaction scores, distance, tenure, promotion history, overtime, and age</a:t>
            </a:r>
            <a:endParaRPr lang="en-US" sz="1200" dirty="0"/>
          </a:p>
        </p:txBody>
      </p:sp>
      <p:sp>
        <p:nvSpPr>
          <p:cNvPr id="8" name="Shape 6"/>
          <p:cNvSpPr/>
          <p:nvPr/>
        </p:nvSpPr>
        <p:spPr>
          <a:xfrm>
            <a:off x="868680" y="3163824"/>
            <a:ext cx="109728" cy="109728"/>
          </a:xfrm>
          <a:prstGeom prst="ellipse">
            <a:avLst/>
          </a:prstGeom>
          <a:solidFill>
            <a:srgbClr val="E8734A"/>
          </a:solidFill>
          <a:ln/>
        </p:spPr>
      </p:sp>
      <p:sp>
        <p:nvSpPr>
          <p:cNvPr id="9" name="Text 7"/>
          <p:cNvSpPr txBox="1"/>
          <p:nvPr/>
        </p:nvSpPr>
        <p:spPr>
          <a:xfrm>
            <a:off x="1143000" y="3035808"/>
            <a:ext cx="4343400" cy="777240"/>
          </a:xfrm>
          <a:prstGeom prst="rect">
            <a:avLst/>
          </a:prstGeom>
          <a:noFill/>
          <a:ln/>
        </p:spPr>
        <p:txBody>
          <a:bodyPr wrap="square" lIns="0" tIns="0" rIns="0" bIns="0" rtlCol="0" anchor="ctr"/>
          <a:lstStyle/>
          <a:p>
            <a:pPr indent="0" marL="0">
              <a:buNone/>
            </a:pPr>
            <a:r>
              <a:rPr lang="en-US" sz="1200" dirty="0">
                <a:solidFill>
                  <a:srgbClr val="1F2430"/>
                </a:solidFill>
                <a:latin typeface="Calibri" pitchFamily="34" charset="0"/>
                <a:ea typeface="Calibri" pitchFamily="34" charset="-122"/>
                <a:cs typeface="Calibri" pitchFamily="34" charset="-120"/>
              </a:rPr>
              <a:t>80/20 train-test split for honest evaluation on unseen employees</a:t>
            </a:r>
            <a:endParaRPr lang="en-US" sz="1200" dirty="0"/>
          </a:p>
        </p:txBody>
      </p:sp>
      <p:sp>
        <p:nvSpPr>
          <p:cNvPr id="10" name="Shape 8"/>
          <p:cNvSpPr/>
          <p:nvPr/>
        </p:nvSpPr>
        <p:spPr>
          <a:xfrm>
            <a:off x="868680" y="4123944"/>
            <a:ext cx="109728" cy="109728"/>
          </a:xfrm>
          <a:prstGeom prst="ellipse">
            <a:avLst/>
          </a:prstGeom>
          <a:solidFill>
            <a:srgbClr val="E8734A"/>
          </a:solidFill>
          <a:ln/>
        </p:spPr>
      </p:sp>
      <p:sp>
        <p:nvSpPr>
          <p:cNvPr id="11" name="Text 9"/>
          <p:cNvSpPr txBox="1"/>
          <p:nvPr/>
        </p:nvSpPr>
        <p:spPr>
          <a:xfrm>
            <a:off x="1143000" y="3995928"/>
            <a:ext cx="4343400" cy="777240"/>
          </a:xfrm>
          <a:prstGeom prst="rect">
            <a:avLst/>
          </a:prstGeom>
          <a:noFill/>
          <a:ln/>
        </p:spPr>
        <p:txBody>
          <a:bodyPr wrap="square" lIns="0" tIns="0" rIns="0" bIns="0" rtlCol="0" anchor="ctr"/>
          <a:lstStyle/>
          <a:p>
            <a:pPr indent="0" marL="0">
              <a:buNone/>
            </a:pPr>
            <a:r>
              <a:rPr lang="en-US" sz="1200" dirty="0">
                <a:solidFill>
                  <a:srgbClr val="1F2430"/>
                </a:solidFill>
                <a:latin typeface="Calibri" pitchFamily="34" charset="0"/>
                <a:ea typeface="Calibri" pitchFamily="34" charset="-122"/>
                <a:cs typeface="Calibri" pitchFamily="34" charset="-120"/>
              </a:rPr>
              <a:t>Addressed class imbalance (only 16% of employees left) using class-weighted logistic regression</a:t>
            </a:r>
            <a:endParaRPr lang="en-US" sz="1200" dirty="0"/>
          </a:p>
        </p:txBody>
      </p:sp>
      <p:sp>
        <p:nvSpPr>
          <p:cNvPr id="12" name="Shape 10"/>
          <p:cNvSpPr/>
          <p:nvPr/>
        </p:nvSpPr>
        <p:spPr>
          <a:xfrm>
            <a:off x="868680" y="5084064"/>
            <a:ext cx="109728" cy="109728"/>
          </a:xfrm>
          <a:prstGeom prst="ellipse">
            <a:avLst/>
          </a:prstGeom>
          <a:solidFill>
            <a:srgbClr val="E8734A"/>
          </a:solidFill>
          <a:ln/>
        </p:spPr>
      </p:sp>
      <p:sp>
        <p:nvSpPr>
          <p:cNvPr id="13" name="Text 11"/>
          <p:cNvSpPr txBox="1"/>
          <p:nvPr/>
        </p:nvSpPr>
        <p:spPr>
          <a:xfrm>
            <a:off x="1143000" y="4956048"/>
            <a:ext cx="4343400" cy="777240"/>
          </a:xfrm>
          <a:prstGeom prst="rect">
            <a:avLst/>
          </a:prstGeom>
          <a:noFill/>
          <a:ln/>
        </p:spPr>
        <p:txBody>
          <a:bodyPr wrap="square" lIns="0" tIns="0" rIns="0" bIns="0" rtlCol="0" anchor="ctr"/>
          <a:lstStyle/>
          <a:p>
            <a:pPr indent="0" marL="0">
              <a:buNone/>
            </a:pPr>
            <a:r>
              <a:rPr lang="en-US" sz="1200" dirty="0">
                <a:solidFill>
                  <a:srgbClr val="1F2430"/>
                </a:solidFill>
                <a:latin typeface="Calibri" pitchFamily="34" charset="0"/>
                <a:ea typeface="Calibri" pitchFamily="34" charset="-122"/>
                <a:cs typeface="Calibri" pitchFamily="34" charset="-120"/>
              </a:rPr>
              <a:t>Outputs a personal attrition probability (0–100%) for every employee, not just a group average</a:t>
            </a:r>
            <a:endParaRPr lang="en-US" sz="1200" dirty="0"/>
          </a:p>
        </p:txBody>
      </p:sp>
      <p:sp>
        <p:nvSpPr>
          <p:cNvPr id="14" name="Text 12"/>
          <p:cNvSpPr txBox="1"/>
          <p:nvPr/>
        </p:nvSpPr>
        <p:spPr>
          <a:xfrm>
            <a:off x="5943600" y="1463040"/>
            <a:ext cx="56692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Model Performance: Accuracy Isn't Everything</a:t>
            </a:r>
            <a:endParaRPr lang="en-US" sz="1500" dirty="0"/>
          </a:p>
        </p:txBody>
      </p:sp>
      <p:sp>
        <p:nvSpPr>
          <p:cNvPr id="15" name="Shape 13"/>
          <p:cNvSpPr/>
          <p:nvPr/>
        </p:nvSpPr>
        <p:spPr>
          <a:xfrm>
            <a:off x="5943600" y="1965960"/>
            <a:ext cx="5669280" cy="1508760"/>
          </a:xfrm>
          <a:prstGeom prst="roundRect">
            <a:avLst>
              <a:gd name="adj" fmla="val 4848"/>
            </a:avLst>
          </a:prstGeom>
          <a:solidFill>
            <a:srgbClr val="FBEAE3"/>
          </a:solidFill>
          <a:ln/>
        </p:spPr>
      </p:sp>
      <p:sp>
        <p:nvSpPr>
          <p:cNvPr id="16" name="Text 14"/>
          <p:cNvSpPr txBox="1"/>
          <p:nvPr/>
        </p:nvSpPr>
        <p:spPr>
          <a:xfrm>
            <a:off x="6172200" y="2103120"/>
            <a:ext cx="5212080" cy="274320"/>
          </a:xfrm>
          <a:prstGeom prst="rect">
            <a:avLst/>
          </a:prstGeom>
          <a:noFill/>
          <a:ln/>
        </p:spPr>
        <p:txBody>
          <a:bodyPr wrap="square" lIns="0" tIns="0" rIns="0" bIns="0" rtlCol="0" anchor="ctr"/>
          <a:lstStyle/>
          <a:p>
            <a:pPr indent="0" marL="0">
              <a:buNone/>
            </a:pPr>
            <a:r>
              <a:rPr lang="en-US" sz="1200" b="1" dirty="0">
                <a:solidFill>
                  <a:srgbClr val="E8734A"/>
                </a:solidFill>
                <a:latin typeface="Calibri" pitchFamily="34" charset="0"/>
                <a:ea typeface="Calibri" pitchFamily="34" charset="-122"/>
                <a:cs typeface="Calibri" pitchFamily="34" charset="-120"/>
              </a:rPr>
              <a:t>Initial Model (unbalanced)</a:t>
            </a:r>
            <a:endParaRPr lang="en-US" sz="1200" dirty="0"/>
          </a:p>
        </p:txBody>
      </p:sp>
      <p:sp>
        <p:nvSpPr>
          <p:cNvPr id="17" name="Text 15"/>
          <p:cNvSpPr txBox="1"/>
          <p:nvPr/>
        </p:nvSpPr>
        <p:spPr>
          <a:xfrm>
            <a:off x="6172200" y="2423160"/>
            <a:ext cx="5212080" cy="960120"/>
          </a:xfrm>
          <a:prstGeom prst="rect">
            <a:avLst/>
          </a:prstGeom>
          <a:noFill/>
          <a:ln/>
        </p:spPr>
        <p:txBody>
          <a:bodyPr wrap="square" lIns="0" tIns="0" rIns="0" bIns="0" rtlCol="0" anchor="ctr"/>
          <a:lstStyle/>
          <a:p>
            <a:pPr indent="0" marL="0">
              <a:buNone/>
            </a:pPr>
            <a:r>
              <a:rPr lang="en-US" sz="2000" b="1" dirty="0">
                <a:solidFill>
                  <a:srgbClr val="1F2430"/>
                </a:solidFill>
                <a:latin typeface="Calibri" pitchFamily="34" charset="0"/>
                <a:ea typeface="Calibri" pitchFamily="34" charset="-122"/>
                <a:cs typeface="Calibri" pitchFamily="34" charset="-120"/>
              </a:rPr>
              <a:t>86% accuracy</a:t>
            </a:r>
            <a:endParaRPr lang="en-US" sz="2000" dirty="0"/>
          </a:p>
          <a:p>
            <a:pPr indent="0" marL="0">
              <a:buNone/>
            </a:pPr>
            <a:r>
              <a:rPr lang="en-US" sz="1200" dirty="0">
                <a:solidFill>
                  <a:srgbClr val="1F2430"/>
                </a:solidFill>
                <a:latin typeface="Calibri" pitchFamily="34" charset="0"/>
                <a:ea typeface="Calibri" pitchFamily="34" charset="-122"/>
                <a:cs typeface="Calibri" pitchFamily="34" charset="-120"/>
              </a:rPr>
              <a:t>but caught only 8% of employees who actually left</a:t>
            </a:r>
            <a:endParaRPr lang="en-US" sz="2000" dirty="0"/>
          </a:p>
        </p:txBody>
      </p:sp>
      <p:sp>
        <p:nvSpPr>
          <p:cNvPr id="18" name="Shape 16"/>
          <p:cNvSpPr/>
          <p:nvPr/>
        </p:nvSpPr>
        <p:spPr>
          <a:xfrm>
            <a:off x="5943600" y="3657600"/>
            <a:ext cx="5669280" cy="1508760"/>
          </a:xfrm>
          <a:prstGeom prst="roundRect">
            <a:avLst>
              <a:gd name="adj" fmla="val 4848"/>
            </a:avLst>
          </a:prstGeom>
          <a:solidFill>
            <a:srgbClr val="E3F2EA"/>
          </a:solidFill>
          <a:ln/>
        </p:spPr>
      </p:sp>
      <p:sp>
        <p:nvSpPr>
          <p:cNvPr id="19" name="Text 17"/>
          <p:cNvSpPr txBox="1"/>
          <p:nvPr/>
        </p:nvSpPr>
        <p:spPr>
          <a:xfrm>
            <a:off x="6172200" y="3794760"/>
            <a:ext cx="5212080" cy="274320"/>
          </a:xfrm>
          <a:prstGeom prst="rect">
            <a:avLst/>
          </a:prstGeom>
          <a:noFill/>
          <a:ln/>
        </p:spPr>
        <p:txBody>
          <a:bodyPr wrap="square" lIns="0" tIns="0" rIns="0" bIns="0" rtlCol="0" anchor="ctr"/>
          <a:lstStyle/>
          <a:p>
            <a:pPr indent="0" marL="0">
              <a:buNone/>
            </a:pPr>
            <a:r>
              <a:rPr lang="en-US" sz="1200" b="1" dirty="0">
                <a:solidFill>
                  <a:srgbClr val="2E9E6B"/>
                </a:solidFill>
                <a:latin typeface="Calibri" pitchFamily="34" charset="0"/>
                <a:ea typeface="Calibri" pitchFamily="34" charset="-122"/>
                <a:cs typeface="Calibri" pitchFamily="34" charset="-120"/>
              </a:rPr>
              <a:t>Final Model (class-balanced)</a:t>
            </a:r>
            <a:endParaRPr lang="en-US" sz="1200" dirty="0"/>
          </a:p>
        </p:txBody>
      </p:sp>
      <p:sp>
        <p:nvSpPr>
          <p:cNvPr id="20" name="Text 18"/>
          <p:cNvSpPr txBox="1"/>
          <p:nvPr/>
        </p:nvSpPr>
        <p:spPr>
          <a:xfrm>
            <a:off x="6172200" y="3977640"/>
            <a:ext cx="5212080" cy="1097280"/>
          </a:xfrm>
          <a:prstGeom prst="rect">
            <a:avLst/>
          </a:prstGeom>
          <a:noFill/>
          <a:ln/>
        </p:spPr>
        <p:txBody>
          <a:bodyPr wrap="square" lIns="0" tIns="0" rIns="0" bIns="0" rtlCol="0" anchor="ctr"/>
          <a:lstStyle/>
          <a:p>
            <a:pPr indent="0" marL="0">
              <a:buNone/>
            </a:pPr>
            <a:r>
              <a:rPr lang="en-US" sz="2000" b="1" dirty="0">
                <a:solidFill>
                  <a:srgbClr val="1F2430"/>
                </a:solidFill>
                <a:latin typeface="Calibri" pitchFamily="34" charset="0"/>
                <a:ea typeface="Calibri" pitchFamily="34" charset="-122"/>
                <a:cs typeface="Calibri" pitchFamily="34" charset="-120"/>
              </a:rPr>
              <a:t>72% accuracy</a:t>
            </a:r>
            <a:endParaRPr lang="en-US" sz="2000" dirty="0"/>
          </a:p>
          <a:p>
            <a:pPr indent="0" marL="0">
              <a:buNone/>
            </a:pPr>
            <a:r>
              <a:rPr lang="en-US" sz="1200" dirty="0">
                <a:solidFill>
                  <a:srgbClr val="1F2430"/>
                </a:solidFill>
                <a:latin typeface="Calibri" pitchFamily="34" charset="0"/>
                <a:ea typeface="Calibri" pitchFamily="34" charset="-122"/>
                <a:cs typeface="Calibri" pitchFamily="34" charset="-120"/>
              </a:rPr>
              <a:t>catches 46% of employees who actually left — the model chosen for this project</a:t>
            </a:r>
            <a:endParaRPr lang="en-US" sz="2000" dirty="0"/>
          </a:p>
        </p:txBody>
      </p:sp>
      <p:sp>
        <p:nvSpPr>
          <p:cNvPr id="21" name="Text 19"/>
          <p:cNvSpPr txBox="1"/>
          <p:nvPr/>
        </p:nvSpPr>
        <p:spPr>
          <a:xfrm>
            <a:off x="5943600" y="5349240"/>
            <a:ext cx="5669280" cy="54864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A model that misses 92% of departures isn't useful for retention — recall was prioritized over raw accuracy.</a:t>
            </a:r>
            <a:endParaRPr lang="en-US" sz="1150" dirty="0"/>
          </a:p>
        </p:txBody>
      </p:sp>
      <p:sp>
        <p:nvSpPr>
          <p:cNvPr id="22" name="Text 20"/>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HR Attrition Analysis  |  Predicting &amp; Preventing Employee Turnover</a:t>
            </a:r>
            <a:endParaRPr lang="en-US" sz="900" dirty="0"/>
          </a:p>
        </p:txBody>
      </p:sp>
      <p:sp>
        <p:nvSpPr>
          <p:cNvPr id="23" name="Text 21"/>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Cost of Attrition</a:t>
            </a:r>
            <a:endParaRPr lang="en-US" sz="30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Historical spend and future exposure, translated into dollars</a:t>
            </a:r>
            <a:endParaRPr lang="en-US" sz="1400" dirty="0"/>
          </a:p>
        </p:txBody>
      </p:sp>
      <p:graphicFrame>
        <p:nvGraphicFramePr>
          <p:cNvPr id="4" name="Chart 0" descr=""/>
          <p:cNvGraphicFramePr/>
          <p:nvPr/>
        </p:nvGraphicFramePr>
        <p:xfrm>
          <a:off x="548640" y="1417320"/>
          <a:ext cx="5486400" cy="2880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355080" y="1417320"/>
            <a:ext cx="5303520" cy="1325880"/>
          </a:xfrm>
          <a:prstGeom prst="roundRect">
            <a:avLst>
              <a:gd name="adj" fmla="val 5517"/>
            </a:avLst>
          </a:prstGeom>
          <a:solidFill>
            <a:srgbClr val="F7F8FC"/>
          </a:solidFill>
          <a:ln/>
        </p:spPr>
      </p:sp>
      <p:sp>
        <p:nvSpPr>
          <p:cNvPr id="6" name="Text 3"/>
          <p:cNvSpPr txBox="1"/>
          <p:nvPr/>
        </p:nvSpPr>
        <p:spPr>
          <a:xfrm>
            <a:off x="6583680" y="1508760"/>
            <a:ext cx="4846320" cy="64008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$12.0M</a:t>
            </a:r>
            <a:endParaRPr lang="en-US" sz="3400" dirty="0"/>
          </a:p>
        </p:txBody>
      </p:sp>
      <p:sp>
        <p:nvSpPr>
          <p:cNvPr id="7" name="Text 4"/>
          <p:cNvSpPr txBox="1"/>
          <p:nvPr/>
        </p:nvSpPr>
        <p:spPr>
          <a:xfrm>
            <a:off x="6583680" y="2148840"/>
            <a:ext cx="4846320" cy="502920"/>
          </a:xfrm>
          <a:prstGeom prst="rect">
            <a:avLst/>
          </a:prstGeom>
          <a:noFill/>
          <a:ln/>
        </p:spPr>
        <p:txBody>
          <a:bodyPr wrap="square" lIns="0" tIns="0" rIns="0" bIns="0" rtlCol="0" anchor="ctr"/>
          <a:lstStyle/>
          <a:p>
            <a:pPr indent="0" marL="0">
              <a:buNone/>
            </a:pPr>
            <a:r>
              <a:rPr lang="en-US" sz="1200" dirty="0">
                <a:solidFill>
                  <a:srgbClr val="1F2430"/>
                </a:solidFill>
                <a:latin typeface="Calibri" pitchFamily="34" charset="0"/>
                <a:ea typeface="Calibri" pitchFamily="34" charset="-122"/>
                <a:cs typeface="Calibri" pitchFamily="34" charset="-120"/>
              </a:rPr>
              <a:t>Total historical replacement cost across all departures</a:t>
            </a:r>
            <a:endParaRPr lang="en-US" sz="1200" dirty="0"/>
          </a:p>
        </p:txBody>
      </p:sp>
      <p:sp>
        <p:nvSpPr>
          <p:cNvPr id="8" name="Shape 5"/>
          <p:cNvSpPr/>
          <p:nvPr/>
        </p:nvSpPr>
        <p:spPr>
          <a:xfrm>
            <a:off x="6355080" y="2880360"/>
            <a:ext cx="5303520" cy="1325880"/>
          </a:xfrm>
          <a:prstGeom prst="roundRect">
            <a:avLst>
              <a:gd name="adj" fmla="val 5517"/>
            </a:avLst>
          </a:prstGeom>
          <a:solidFill>
            <a:srgbClr val="FBEAE3"/>
          </a:solidFill>
          <a:ln/>
        </p:spPr>
      </p:sp>
      <p:sp>
        <p:nvSpPr>
          <p:cNvPr id="9" name="Text 6"/>
          <p:cNvSpPr txBox="1"/>
          <p:nvPr/>
        </p:nvSpPr>
        <p:spPr>
          <a:xfrm>
            <a:off x="6583680" y="2971800"/>
            <a:ext cx="4846320" cy="640080"/>
          </a:xfrm>
          <a:prstGeom prst="rect">
            <a:avLst/>
          </a:prstGeom>
          <a:noFill/>
          <a:ln/>
        </p:spPr>
        <p:txBody>
          <a:bodyPr wrap="square" lIns="0" tIns="0" rIns="0" bIns="0" rtlCol="0" anchor="ctr"/>
          <a:lstStyle/>
          <a:p>
            <a:pPr indent="0" marL="0">
              <a:buNone/>
            </a:pPr>
            <a:r>
              <a:rPr lang="en-US" sz="3400" b="1" dirty="0">
                <a:solidFill>
                  <a:srgbClr val="E8734A"/>
                </a:solidFill>
                <a:latin typeface="Cambria" pitchFamily="34" charset="0"/>
                <a:ea typeface="Cambria" pitchFamily="34" charset="-122"/>
                <a:cs typeface="Cambria" pitchFamily="34" charset="-120"/>
              </a:rPr>
              <a:t>$14.8M</a:t>
            </a:r>
            <a:endParaRPr lang="en-US" sz="3400" dirty="0"/>
          </a:p>
        </p:txBody>
      </p:sp>
      <p:sp>
        <p:nvSpPr>
          <p:cNvPr id="10" name="Text 7"/>
          <p:cNvSpPr txBox="1"/>
          <p:nvPr/>
        </p:nvSpPr>
        <p:spPr>
          <a:xfrm>
            <a:off x="6583680" y="3611880"/>
            <a:ext cx="4846320" cy="502920"/>
          </a:xfrm>
          <a:prstGeom prst="rect">
            <a:avLst/>
          </a:prstGeom>
          <a:noFill/>
          <a:ln/>
        </p:spPr>
        <p:txBody>
          <a:bodyPr wrap="square" lIns="0" tIns="0" rIns="0" bIns="0" rtlCol="0" anchor="ctr"/>
          <a:lstStyle/>
          <a:p>
            <a:pPr indent="0" marL="0">
              <a:buNone/>
            </a:pPr>
            <a:r>
              <a:rPr lang="en-US" sz="1200" dirty="0">
                <a:solidFill>
                  <a:srgbClr val="1F2430"/>
                </a:solidFill>
                <a:latin typeface="Calibri" pitchFamily="34" charset="0"/>
                <a:ea typeface="Calibri" pitchFamily="34" charset="-122"/>
                <a:cs typeface="Calibri" pitchFamily="34" charset="-120"/>
              </a:rPr>
              <a:t>Projected cost if every currently High-risk employee leaves</a:t>
            </a:r>
            <a:endParaRPr lang="en-US" sz="1200" dirty="0"/>
          </a:p>
        </p:txBody>
      </p:sp>
      <p:sp>
        <p:nvSpPr>
          <p:cNvPr id="11" name="Shape 8"/>
          <p:cNvSpPr/>
          <p:nvPr/>
        </p:nvSpPr>
        <p:spPr>
          <a:xfrm>
            <a:off x="548640" y="4572000"/>
            <a:ext cx="11091672" cy="1645920"/>
          </a:xfrm>
          <a:prstGeom prst="roundRect">
            <a:avLst>
              <a:gd name="adj" fmla="val 4444"/>
            </a:avLst>
          </a:prstGeom>
          <a:solidFill>
            <a:srgbClr val="F7F8FC"/>
          </a:solidFill>
          <a:ln/>
        </p:spPr>
      </p:sp>
      <p:sp>
        <p:nvSpPr>
          <p:cNvPr id="12" name="Text 9"/>
          <p:cNvSpPr txBox="1"/>
          <p:nvPr/>
        </p:nvSpPr>
        <p:spPr>
          <a:xfrm>
            <a:off x="822960" y="4754880"/>
            <a:ext cx="105156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Key takeaway</a:t>
            </a:r>
            <a:endParaRPr lang="en-US" sz="1300" dirty="0"/>
          </a:p>
        </p:txBody>
      </p:sp>
      <p:sp>
        <p:nvSpPr>
          <p:cNvPr id="13" name="Text 10"/>
          <p:cNvSpPr txBox="1"/>
          <p:nvPr/>
        </p:nvSpPr>
        <p:spPr>
          <a:xfrm>
            <a:off x="822960" y="5120640"/>
            <a:ext cx="10515600" cy="1005840"/>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Sales carries both the highest attrition rate (20.6%) and the highest total cost ($6.2M), making it the top priority for retention investment. The projected future exposure ($14.8M) already exceeds total historical spend, underscoring the value of acting on the model's risk scores now.</a:t>
            </a:r>
            <a:endParaRPr lang="en-US" sz="1250" dirty="0"/>
          </a:p>
        </p:txBody>
      </p:sp>
      <p:sp>
        <p:nvSpPr>
          <p:cNvPr id="14" name="Text 11"/>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HR Attrition Analysis  |  Predicting &amp; Preventing Employee Turnover</a:t>
            </a:r>
            <a:endParaRPr lang="en-US" sz="900" dirty="0"/>
          </a:p>
        </p:txBody>
      </p:sp>
      <p:sp>
        <p:nvSpPr>
          <p:cNvPr id="15" name="Text 12"/>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If We Reduced Overtime?</a:t>
            </a:r>
            <a:endParaRPr lang="en-US" sz="30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Projected savings from converting overtime employees to standard hours</a:t>
            </a:r>
            <a:endParaRPr lang="en-US" sz="1400" dirty="0"/>
          </a:p>
        </p:txBody>
      </p:sp>
      <p:graphicFrame>
        <p:nvGraphicFramePr>
          <p:cNvPr id="4" name="Chart 0" descr=""/>
          <p:cNvGraphicFramePr/>
          <p:nvPr/>
        </p:nvGraphicFramePr>
        <p:xfrm>
          <a:off x="548640" y="1417320"/>
          <a:ext cx="649224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360920" y="1417320"/>
            <a:ext cx="4279392" cy="1600200"/>
          </a:xfrm>
          <a:prstGeom prst="roundRect">
            <a:avLst>
              <a:gd name="adj" fmla="val 4571"/>
            </a:avLst>
          </a:prstGeom>
          <a:solidFill>
            <a:srgbClr val="F7F8FC"/>
          </a:solidFill>
          <a:ln/>
        </p:spPr>
      </p:sp>
      <p:sp>
        <p:nvSpPr>
          <p:cNvPr id="6" name="Text 3"/>
          <p:cNvSpPr txBox="1"/>
          <p:nvPr/>
        </p:nvSpPr>
        <p:spPr>
          <a:xfrm>
            <a:off x="7589520" y="1508760"/>
            <a:ext cx="3840480" cy="5486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416</a:t>
            </a:r>
            <a:endParaRPr lang="en-US" sz="2800" dirty="0"/>
          </a:p>
        </p:txBody>
      </p:sp>
      <p:sp>
        <p:nvSpPr>
          <p:cNvPr id="7" name="Text 4"/>
          <p:cNvSpPr txBox="1"/>
          <p:nvPr/>
        </p:nvSpPr>
        <p:spPr>
          <a:xfrm>
            <a:off x="7589520" y="2057400"/>
            <a:ext cx="3840480" cy="868680"/>
          </a:xfrm>
          <a:prstGeom prst="rect">
            <a:avLst/>
          </a:prstGeom>
          <a:noFill/>
          <a:ln/>
        </p:spPr>
        <p:txBody>
          <a:bodyPr wrap="square" lIns="0" tIns="0" rIns="0" bIns="0" rtlCol="0" anchor="ctr"/>
          <a:lstStyle/>
          <a:p>
            <a:pPr indent="0" marL="0">
              <a:buNone/>
            </a:pPr>
            <a:r>
              <a:rPr lang="en-US" sz="1150" dirty="0">
                <a:solidFill>
                  <a:srgbClr val="1F2430"/>
                </a:solidFill>
                <a:latin typeface="Calibri" pitchFamily="34" charset="0"/>
                <a:ea typeface="Calibri" pitchFamily="34" charset="-122"/>
                <a:cs typeface="Calibri" pitchFamily="34" charset="-120"/>
              </a:rPr>
              <a:t>Employees currently working overtime, out of 1,470 total</a:t>
            </a:r>
            <a:endParaRPr lang="en-US" sz="1150" dirty="0"/>
          </a:p>
        </p:txBody>
      </p:sp>
      <p:sp>
        <p:nvSpPr>
          <p:cNvPr id="8" name="Shape 5"/>
          <p:cNvSpPr/>
          <p:nvPr/>
        </p:nvSpPr>
        <p:spPr>
          <a:xfrm>
            <a:off x="7360920" y="3154680"/>
            <a:ext cx="4279392" cy="1828800"/>
          </a:xfrm>
          <a:prstGeom prst="roundRect">
            <a:avLst>
              <a:gd name="adj" fmla="val 4000"/>
            </a:avLst>
          </a:prstGeom>
          <a:solidFill>
            <a:srgbClr val="E3F2EA"/>
          </a:solidFill>
          <a:ln/>
        </p:spPr>
      </p:sp>
      <p:sp>
        <p:nvSpPr>
          <p:cNvPr id="9" name="Text 6"/>
          <p:cNvSpPr txBox="1"/>
          <p:nvPr/>
        </p:nvSpPr>
        <p:spPr>
          <a:xfrm>
            <a:off x="7589520" y="3246120"/>
            <a:ext cx="3840480" cy="548640"/>
          </a:xfrm>
          <a:prstGeom prst="rect">
            <a:avLst/>
          </a:prstGeom>
          <a:noFill/>
          <a:ln/>
        </p:spPr>
        <p:txBody>
          <a:bodyPr wrap="square" lIns="0" tIns="0" rIns="0" bIns="0" rtlCol="0" anchor="ctr"/>
          <a:lstStyle/>
          <a:p>
            <a:pPr indent="0" marL="0">
              <a:buNone/>
            </a:pPr>
            <a:r>
              <a:rPr lang="en-US" sz="2800" b="1" dirty="0">
                <a:solidFill>
                  <a:srgbClr val="2E9E6B"/>
                </a:solidFill>
                <a:latin typeface="Cambria" pitchFamily="34" charset="0"/>
                <a:ea typeface="Cambria" pitchFamily="34" charset="-122"/>
                <a:cs typeface="Cambria" pitchFamily="34" charset="-120"/>
              </a:rPr>
              <a:t>$425K</a:t>
            </a:r>
            <a:endParaRPr lang="en-US" sz="2800" dirty="0"/>
          </a:p>
        </p:txBody>
      </p:sp>
      <p:sp>
        <p:nvSpPr>
          <p:cNvPr id="10" name="Text 7"/>
          <p:cNvSpPr txBox="1"/>
          <p:nvPr/>
        </p:nvSpPr>
        <p:spPr>
          <a:xfrm>
            <a:off x="7589520" y="3794760"/>
            <a:ext cx="3840480" cy="1051560"/>
          </a:xfrm>
          <a:prstGeom prst="rect">
            <a:avLst/>
          </a:prstGeom>
          <a:noFill/>
          <a:ln/>
        </p:spPr>
        <p:txBody>
          <a:bodyPr wrap="square" lIns="0" tIns="0" rIns="0" bIns="0" rtlCol="0" anchor="ctr"/>
          <a:lstStyle/>
          <a:p>
            <a:pPr indent="0" marL="0">
              <a:buNone/>
            </a:pPr>
            <a:r>
              <a:rPr lang="en-US" sz="1150" dirty="0">
                <a:solidFill>
                  <a:srgbClr val="1F2430"/>
                </a:solidFill>
                <a:latin typeface="Calibri" pitchFamily="34" charset="0"/>
                <a:ea typeface="Calibri" pitchFamily="34" charset="-122"/>
                <a:cs typeface="Calibri" pitchFamily="34" charset="-120"/>
              </a:rPr>
              <a:t>Estimated savings from just a 10% reduction in overtime — roughly 8 avoided departures</a:t>
            </a:r>
            <a:endParaRPr lang="en-US" sz="1150" dirty="0"/>
          </a:p>
        </p:txBody>
      </p:sp>
      <p:sp>
        <p:nvSpPr>
          <p:cNvPr id="11" name="Shape 8"/>
          <p:cNvSpPr/>
          <p:nvPr/>
        </p:nvSpPr>
        <p:spPr>
          <a:xfrm>
            <a:off x="548640" y="5257800"/>
            <a:ext cx="11091672" cy="1005840"/>
          </a:xfrm>
          <a:prstGeom prst="roundRect">
            <a:avLst>
              <a:gd name="adj" fmla="val 7273"/>
            </a:avLst>
          </a:prstGeom>
          <a:solidFill>
            <a:srgbClr val="F7F8FC"/>
          </a:solidFill>
          <a:ln/>
        </p:spPr>
      </p:sp>
      <p:sp>
        <p:nvSpPr>
          <p:cNvPr id="12" name="Text 9"/>
          <p:cNvSpPr txBox="1"/>
          <p:nvPr/>
        </p:nvSpPr>
        <p:spPr>
          <a:xfrm>
            <a:off x="822960" y="5349240"/>
            <a:ext cx="10515600" cy="82296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Assumption: converting an employee from overtime to standard hours is modeled as reducing their personal attrition risk to the non-overtime baseline (10.4%). This is a simplifying, correlation-based assumption — not a proven causal effect.</a:t>
            </a:r>
            <a:endParaRPr lang="en-US" sz="1150" dirty="0"/>
          </a:p>
        </p:txBody>
      </p:sp>
      <p:sp>
        <p:nvSpPr>
          <p:cNvPr id="13" name="Text 10"/>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HR Attrition Analysis  |  Predicting &amp; Preventing Employee Turnover</a:t>
            </a:r>
            <a:endParaRPr lang="en-US" sz="900" dirty="0"/>
          </a:p>
        </p:txBody>
      </p:sp>
      <p:sp>
        <p:nvSpPr>
          <p:cNvPr id="14" name="Text 11"/>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Recommendations by Risk Tier</a:t>
            </a:r>
            <a:endParaRPr lang="en-US" sz="3000" dirty="0"/>
          </a:p>
        </p:txBody>
      </p:sp>
      <p:sp>
        <p:nvSpPr>
          <p:cNvPr id="3" name="Text 1"/>
          <p:cNvSpPr txBox="1"/>
          <p:nvPr/>
        </p:nvSpPr>
        <p:spPr>
          <a:xfrm>
            <a:off x="548640" y="960120"/>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Turning risk scores into prioritized action</a:t>
            </a:r>
            <a:endParaRPr lang="en-US" sz="1400" dirty="0"/>
          </a:p>
        </p:txBody>
      </p:sp>
      <p:sp>
        <p:nvSpPr>
          <p:cNvPr id="4" name="Shape 2"/>
          <p:cNvSpPr/>
          <p:nvPr/>
        </p:nvSpPr>
        <p:spPr>
          <a:xfrm>
            <a:off x="548640" y="1508760"/>
            <a:ext cx="11091672" cy="1234440"/>
          </a:xfrm>
          <a:prstGeom prst="roundRect">
            <a:avLst>
              <a:gd name="adj" fmla="val 5926"/>
            </a:avLst>
          </a:prstGeom>
          <a:solidFill>
            <a:srgbClr val="FBEAE3"/>
          </a:solidFill>
          <a:ln/>
        </p:spPr>
      </p:sp>
      <p:sp>
        <p:nvSpPr>
          <p:cNvPr id="5" name="Shape 3"/>
          <p:cNvSpPr/>
          <p:nvPr/>
        </p:nvSpPr>
        <p:spPr>
          <a:xfrm>
            <a:off x="731520" y="1691640"/>
            <a:ext cx="1737360" cy="868680"/>
          </a:xfrm>
          <a:prstGeom prst="roundRect">
            <a:avLst>
              <a:gd name="adj" fmla="val 6316"/>
            </a:avLst>
          </a:prstGeom>
          <a:solidFill>
            <a:srgbClr val="E8734A"/>
          </a:solidFill>
          <a:ln/>
        </p:spPr>
      </p:sp>
      <p:sp>
        <p:nvSpPr>
          <p:cNvPr id="6" name="Text 4"/>
          <p:cNvSpPr txBox="1"/>
          <p:nvPr/>
        </p:nvSpPr>
        <p:spPr>
          <a:xfrm>
            <a:off x="731520" y="1691640"/>
            <a:ext cx="173736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HIGH RISK</a:t>
            </a:r>
            <a:endParaRPr lang="en-US" sz="1300" dirty="0"/>
          </a:p>
        </p:txBody>
      </p:sp>
      <p:sp>
        <p:nvSpPr>
          <p:cNvPr id="7" name="Text 5"/>
          <p:cNvSpPr txBox="1"/>
          <p:nvPr/>
        </p:nvSpPr>
        <p:spPr>
          <a:xfrm>
            <a:off x="2697480" y="1655064"/>
            <a:ext cx="8686800" cy="502920"/>
          </a:xfrm>
          <a:prstGeom prst="rect">
            <a:avLst/>
          </a:prstGeom>
          <a:noFill/>
          <a:ln/>
        </p:spPr>
        <p:txBody>
          <a:bodyPr wrap="square" lIns="0" tIns="0" rIns="0" bIns="0" rtlCol="0" anchor="ctr"/>
          <a:lstStyle/>
          <a:p>
            <a:pPr indent="0" marL="0">
              <a:buNone/>
            </a:pPr>
            <a:r>
              <a:rPr lang="en-US" sz="1150" b="1" dirty="0">
                <a:solidFill>
                  <a:srgbClr val="1F2430"/>
                </a:solidFill>
                <a:latin typeface="Calibri" pitchFamily="34" charset="0"/>
                <a:ea typeface="Calibri" pitchFamily="34" charset="-122"/>
                <a:cs typeface="Calibri" pitchFamily="34" charset="-120"/>
              </a:rPr>
              <a:t>Drivers: </a:t>
            </a:r>
            <a:endParaRPr lang="en-US" sz="1150" dirty="0"/>
          </a:p>
          <a:p>
            <a:pPr indent="0" marL="0">
              <a:buNone/>
            </a:pPr>
            <a:r>
              <a:rPr lang="en-US" sz="1150" dirty="0">
                <a:solidFill>
                  <a:srgbClr val="1F2430"/>
                </a:solidFill>
                <a:latin typeface="Calibri" pitchFamily="34" charset="0"/>
                <a:ea typeface="Calibri" pitchFamily="34" charset="-122"/>
                <a:cs typeface="Calibri" pitchFamily="34" charset="-120"/>
              </a:rPr>
              <a:t>Overtime, low tenure, low work-life balance, concentrated in Sales</a:t>
            </a:r>
            <a:endParaRPr lang="en-US" sz="1150" dirty="0"/>
          </a:p>
        </p:txBody>
      </p:sp>
      <p:sp>
        <p:nvSpPr>
          <p:cNvPr id="8" name="Text 6"/>
          <p:cNvSpPr txBox="1"/>
          <p:nvPr/>
        </p:nvSpPr>
        <p:spPr>
          <a:xfrm>
            <a:off x="2697480" y="2130552"/>
            <a:ext cx="8686800" cy="548640"/>
          </a:xfrm>
          <a:prstGeom prst="rect">
            <a:avLst/>
          </a:prstGeom>
          <a:noFill/>
          <a:ln/>
        </p:spPr>
        <p:txBody>
          <a:bodyPr wrap="square" lIns="0" tIns="0" rIns="0" bIns="0" rtlCol="0" anchor="ctr"/>
          <a:lstStyle/>
          <a:p>
            <a:pPr indent="0" marL="0">
              <a:buNone/>
            </a:pPr>
            <a:r>
              <a:rPr lang="en-US" sz="1150" b="1" dirty="0">
                <a:solidFill>
                  <a:srgbClr val="E8734A"/>
                </a:solidFill>
                <a:latin typeface="Calibri" pitchFamily="34" charset="0"/>
                <a:ea typeface="Calibri" pitchFamily="34" charset="-122"/>
                <a:cs typeface="Calibri" pitchFamily="34" charset="-120"/>
              </a:rPr>
              <a:t>Action: </a:t>
            </a:r>
            <a:endParaRPr lang="en-US" sz="1150" dirty="0"/>
          </a:p>
          <a:p>
            <a:pPr indent="0" marL="0">
              <a:buNone/>
            </a:pPr>
            <a:r>
              <a:rPr lang="en-US" sz="1150" dirty="0">
                <a:solidFill>
                  <a:srgbClr val="1F2430"/>
                </a:solidFill>
                <a:latin typeface="Calibri" pitchFamily="34" charset="0"/>
                <a:ea typeface="Calibri" pitchFamily="34" charset="-122"/>
                <a:cs typeface="Calibri" pitchFamily="34" charset="-120"/>
              </a:rPr>
              <a:t>Immediate 1:1 retention conversations; review overtime load; prioritize Sales department cases</a:t>
            </a:r>
            <a:endParaRPr lang="en-US" sz="1150" dirty="0"/>
          </a:p>
        </p:txBody>
      </p:sp>
      <p:sp>
        <p:nvSpPr>
          <p:cNvPr id="9" name="Shape 7"/>
          <p:cNvSpPr/>
          <p:nvPr/>
        </p:nvSpPr>
        <p:spPr>
          <a:xfrm>
            <a:off x="548640" y="2926080"/>
            <a:ext cx="11091672" cy="1234440"/>
          </a:xfrm>
          <a:prstGeom prst="roundRect">
            <a:avLst>
              <a:gd name="adj" fmla="val 5926"/>
            </a:avLst>
          </a:prstGeom>
          <a:solidFill>
            <a:srgbClr val="FBF3E1"/>
          </a:solidFill>
          <a:ln/>
        </p:spPr>
      </p:sp>
      <p:sp>
        <p:nvSpPr>
          <p:cNvPr id="10" name="Shape 8"/>
          <p:cNvSpPr/>
          <p:nvPr/>
        </p:nvSpPr>
        <p:spPr>
          <a:xfrm>
            <a:off x="731520" y="3108960"/>
            <a:ext cx="1737360" cy="868680"/>
          </a:xfrm>
          <a:prstGeom prst="roundRect">
            <a:avLst>
              <a:gd name="adj" fmla="val 6316"/>
            </a:avLst>
          </a:prstGeom>
          <a:solidFill>
            <a:srgbClr val="C99A3E"/>
          </a:solidFill>
          <a:ln/>
        </p:spPr>
      </p:sp>
      <p:sp>
        <p:nvSpPr>
          <p:cNvPr id="11" name="Text 9"/>
          <p:cNvSpPr txBox="1"/>
          <p:nvPr/>
        </p:nvSpPr>
        <p:spPr>
          <a:xfrm>
            <a:off x="731520" y="3108960"/>
            <a:ext cx="173736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MEDIUM RISK</a:t>
            </a:r>
            <a:endParaRPr lang="en-US" sz="1300" dirty="0"/>
          </a:p>
        </p:txBody>
      </p:sp>
      <p:sp>
        <p:nvSpPr>
          <p:cNvPr id="12" name="Text 10"/>
          <p:cNvSpPr txBox="1"/>
          <p:nvPr/>
        </p:nvSpPr>
        <p:spPr>
          <a:xfrm>
            <a:off x="2697480" y="3072384"/>
            <a:ext cx="8686800" cy="502920"/>
          </a:xfrm>
          <a:prstGeom prst="rect">
            <a:avLst/>
          </a:prstGeom>
          <a:noFill/>
          <a:ln/>
        </p:spPr>
        <p:txBody>
          <a:bodyPr wrap="square" lIns="0" tIns="0" rIns="0" bIns="0" rtlCol="0" anchor="ctr"/>
          <a:lstStyle/>
          <a:p>
            <a:pPr indent="0" marL="0">
              <a:buNone/>
            </a:pPr>
            <a:r>
              <a:rPr lang="en-US" sz="1150" b="1" dirty="0">
                <a:solidFill>
                  <a:srgbClr val="1F2430"/>
                </a:solidFill>
                <a:latin typeface="Calibri" pitchFamily="34" charset="0"/>
                <a:ea typeface="Calibri" pitchFamily="34" charset="-122"/>
                <a:cs typeface="Calibri" pitchFamily="34" charset="-120"/>
              </a:rPr>
              <a:t>Drivers: </a:t>
            </a:r>
            <a:endParaRPr lang="en-US" sz="1150" dirty="0"/>
          </a:p>
          <a:p>
            <a:pPr indent="0" marL="0">
              <a:buNone/>
            </a:pPr>
            <a:r>
              <a:rPr lang="en-US" sz="1150" dirty="0">
                <a:solidFill>
                  <a:srgbClr val="1F2430"/>
                </a:solidFill>
                <a:latin typeface="Calibri" pitchFamily="34" charset="0"/>
                <a:ea typeface="Calibri" pitchFamily="34" charset="-122"/>
                <a:cs typeface="Calibri" pitchFamily="34" charset="-120"/>
              </a:rPr>
              <a:t>Moderate satisfaction and tenure signals</a:t>
            </a:r>
            <a:endParaRPr lang="en-US" sz="1150" dirty="0"/>
          </a:p>
        </p:txBody>
      </p:sp>
      <p:sp>
        <p:nvSpPr>
          <p:cNvPr id="13" name="Text 11"/>
          <p:cNvSpPr txBox="1"/>
          <p:nvPr/>
        </p:nvSpPr>
        <p:spPr>
          <a:xfrm>
            <a:off x="2697480" y="3547872"/>
            <a:ext cx="8686800" cy="548640"/>
          </a:xfrm>
          <a:prstGeom prst="rect">
            <a:avLst/>
          </a:prstGeom>
          <a:noFill/>
          <a:ln/>
        </p:spPr>
        <p:txBody>
          <a:bodyPr wrap="square" lIns="0" tIns="0" rIns="0" bIns="0" rtlCol="0" anchor="ctr"/>
          <a:lstStyle/>
          <a:p>
            <a:pPr indent="0" marL="0">
              <a:buNone/>
            </a:pPr>
            <a:r>
              <a:rPr lang="en-US" sz="1150" b="1" dirty="0">
                <a:solidFill>
                  <a:srgbClr val="C99A3E"/>
                </a:solidFill>
                <a:latin typeface="Calibri" pitchFamily="34" charset="0"/>
                <a:ea typeface="Calibri" pitchFamily="34" charset="-122"/>
                <a:cs typeface="Calibri" pitchFamily="34" charset="-120"/>
              </a:rPr>
              <a:t>Action: </a:t>
            </a:r>
            <a:endParaRPr lang="en-US" sz="1150" dirty="0"/>
          </a:p>
          <a:p>
            <a:pPr indent="0" marL="0">
              <a:buNone/>
            </a:pPr>
            <a:r>
              <a:rPr lang="en-US" sz="1150" dirty="0">
                <a:solidFill>
                  <a:srgbClr val="1F2430"/>
                </a:solidFill>
                <a:latin typeface="Calibri" pitchFamily="34" charset="0"/>
                <a:ea typeface="Calibri" pitchFamily="34" charset="-122"/>
                <a:cs typeface="Calibri" pitchFamily="34" charset="-120"/>
              </a:rPr>
              <a:t>Proactive check-ins; monitor satisfaction trends; watch for overtime creep before it escalates</a:t>
            </a:r>
            <a:endParaRPr lang="en-US" sz="1150" dirty="0"/>
          </a:p>
        </p:txBody>
      </p:sp>
      <p:sp>
        <p:nvSpPr>
          <p:cNvPr id="14" name="Shape 12"/>
          <p:cNvSpPr/>
          <p:nvPr/>
        </p:nvSpPr>
        <p:spPr>
          <a:xfrm>
            <a:off x="548640" y="4343400"/>
            <a:ext cx="11091672" cy="1234440"/>
          </a:xfrm>
          <a:prstGeom prst="roundRect">
            <a:avLst>
              <a:gd name="adj" fmla="val 5926"/>
            </a:avLst>
          </a:prstGeom>
          <a:solidFill>
            <a:srgbClr val="E3F2EA"/>
          </a:solidFill>
          <a:ln/>
        </p:spPr>
      </p:sp>
      <p:sp>
        <p:nvSpPr>
          <p:cNvPr id="15" name="Shape 13"/>
          <p:cNvSpPr/>
          <p:nvPr/>
        </p:nvSpPr>
        <p:spPr>
          <a:xfrm>
            <a:off x="731520" y="4526280"/>
            <a:ext cx="1737360" cy="868680"/>
          </a:xfrm>
          <a:prstGeom prst="roundRect">
            <a:avLst>
              <a:gd name="adj" fmla="val 6316"/>
            </a:avLst>
          </a:prstGeom>
          <a:solidFill>
            <a:srgbClr val="2E9E6B"/>
          </a:solidFill>
          <a:ln/>
        </p:spPr>
      </p:sp>
      <p:sp>
        <p:nvSpPr>
          <p:cNvPr id="16" name="Text 14"/>
          <p:cNvSpPr txBox="1"/>
          <p:nvPr/>
        </p:nvSpPr>
        <p:spPr>
          <a:xfrm>
            <a:off x="731520" y="4526280"/>
            <a:ext cx="173736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LOW RISK</a:t>
            </a:r>
            <a:endParaRPr lang="en-US" sz="1300" dirty="0"/>
          </a:p>
        </p:txBody>
      </p:sp>
      <p:sp>
        <p:nvSpPr>
          <p:cNvPr id="17" name="Text 15"/>
          <p:cNvSpPr txBox="1"/>
          <p:nvPr/>
        </p:nvSpPr>
        <p:spPr>
          <a:xfrm>
            <a:off x="2697480" y="4489704"/>
            <a:ext cx="8686800" cy="502920"/>
          </a:xfrm>
          <a:prstGeom prst="rect">
            <a:avLst/>
          </a:prstGeom>
          <a:noFill/>
          <a:ln/>
        </p:spPr>
        <p:txBody>
          <a:bodyPr wrap="square" lIns="0" tIns="0" rIns="0" bIns="0" rtlCol="0" anchor="ctr"/>
          <a:lstStyle/>
          <a:p>
            <a:pPr indent="0" marL="0">
              <a:buNone/>
            </a:pPr>
            <a:r>
              <a:rPr lang="en-US" sz="1150" b="1" dirty="0">
                <a:solidFill>
                  <a:srgbClr val="1F2430"/>
                </a:solidFill>
                <a:latin typeface="Calibri" pitchFamily="34" charset="0"/>
                <a:ea typeface="Calibri" pitchFamily="34" charset="-122"/>
                <a:cs typeface="Calibri" pitchFamily="34" charset="-120"/>
              </a:rPr>
              <a:t>Drivers: </a:t>
            </a:r>
            <a:endParaRPr lang="en-US" sz="1150" dirty="0"/>
          </a:p>
          <a:p>
            <a:pPr indent="0" marL="0">
              <a:buNone/>
            </a:pPr>
            <a:r>
              <a:rPr lang="en-US" sz="1150" dirty="0">
                <a:solidFill>
                  <a:srgbClr val="1F2430"/>
                </a:solidFill>
                <a:latin typeface="Calibri" pitchFamily="34" charset="0"/>
                <a:ea typeface="Calibri" pitchFamily="34" charset="-122"/>
                <a:cs typeface="Calibri" pitchFamily="34" charset="-120"/>
              </a:rPr>
              <a:t>Stable tenure, no overtime, higher satisfaction scores</a:t>
            </a:r>
            <a:endParaRPr lang="en-US" sz="1150" dirty="0"/>
          </a:p>
        </p:txBody>
      </p:sp>
      <p:sp>
        <p:nvSpPr>
          <p:cNvPr id="18" name="Text 16"/>
          <p:cNvSpPr txBox="1"/>
          <p:nvPr/>
        </p:nvSpPr>
        <p:spPr>
          <a:xfrm>
            <a:off x="2697480" y="4965192"/>
            <a:ext cx="8686800" cy="548640"/>
          </a:xfrm>
          <a:prstGeom prst="rect">
            <a:avLst/>
          </a:prstGeom>
          <a:noFill/>
          <a:ln/>
        </p:spPr>
        <p:txBody>
          <a:bodyPr wrap="square" lIns="0" tIns="0" rIns="0" bIns="0" rtlCol="0" anchor="ctr"/>
          <a:lstStyle/>
          <a:p>
            <a:pPr indent="0" marL="0">
              <a:buNone/>
            </a:pPr>
            <a:r>
              <a:rPr lang="en-US" sz="1150" b="1" dirty="0">
                <a:solidFill>
                  <a:srgbClr val="2E9E6B"/>
                </a:solidFill>
                <a:latin typeface="Calibri" pitchFamily="34" charset="0"/>
                <a:ea typeface="Calibri" pitchFamily="34" charset="-122"/>
                <a:cs typeface="Calibri" pitchFamily="34" charset="-120"/>
              </a:rPr>
              <a:t>Action: </a:t>
            </a:r>
            <a:endParaRPr lang="en-US" sz="1150" dirty="0"/>
          </a:p>
          <a:p>
            <a:pPr indent="0" marL="0">
              <a:buNone/>
            </a:pPr>
            <a:r>
              <a:rPr lang="en-US" sz="1150" dirty="0">
                <a:solidFill>
                  <a:srgbClr val="1F2430"/>
                </a:solidFill>
                <a:latin typeface="Calibri" pitchFamily="34" charset="0"/>
                <a:ea typeface="Calibri" pitchFamily="34" charset="-122"/>
                <a:cs typeface="Calibri" pitchFamily="34" charset="-120"/>
              </a:rPr>
              <a:t>Standard engagement; no urgent action needed beyond routine check-ins</a:t>
            </a:r>
            <a:endParaRPr lang="en-US" sz="1150" dirty="0"/>
          </a:p>
        </p:txBody>
      </p:sp>
      <p:sp>
        <p:nvSpPr>
          <p:cNvPr id="19" name="Text 17"/>
          <p:cNvSpPr txBox="1"/>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HR Attrition Analysis  |  Predicting &amp; Preventing Employee Turnover</a:t>
            </a:r>
            <a:endParaRPr lang="en-US" sz="900" dirty="0"/>
          </a:p>
        </p:txBody>
      </p:sp>
      <p:sp>
        <p:nvSpPr>
          <p:cNvPr id="20" name="Text 18"/>
          <p:cNvSpPr txBox="1"/>
          <p:nvPr/>
        </p:nvSpPr>
        <p:spPr>
          <a:xfrm>
            <a:off x="11277295" y="649224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27306E"/>
          </a:solidFill>
          <a:ln/>
        </p:spPr>
      </p:sp>
      <p:sp>
        <p:nvSpPr>
          <p:cNvPr id="3" name="Text 1"/>
          <p:cNvSpPr txBox="1"/>
          <p:nvPr/>
        </p:nvSpPr>
        <p:spPr>
          <a:xfrm>
            <a:off x="822960" y="82296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From Insight to Action</a:t>
            </a:r>
            <a:endParaRPr lang="en-US" sz="3400" dirty="0"/>
          </a:p>
        </p:txBody>
      </p:sp>
      <p:sp>
        <p:nvSpPr>
          <p:cNvPr id="4" name="Text 2"/>
          <p:cNvSpPr txBox="1"/>
          <p:nvPr/>
        </p:nvSpPr>
        <p:spPr>
          <a:xfrm>
            <a:off x="822960" y="1508760"/>
            <a:ext cx="10058400" cy="45720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This project moved beyond descriptive reporting to a predictive, cost-justified retention strategy.</a:t>
            </a:r>
            <a:endParaRPr lang="en-US" sz="1500" dirty="0"/>
          </a:p>
        </p:txBody>
      </p:sp>
      <p:sp>
        <p:nvSpPr>
          <p:cNvPr id="5" name="Shape 3"/>
          <p:cNvSpPr/>
          <p:nvPr/>
        </p:nvSpPr>
        <p:spPr>
          <a:xfrm>
            <a:off x="868680" y="2404872"/>
            <a:ext cx="128016" cy="128016"/>
          </a:xfrm>
          <a:prstGeom prst="ellipse">
            <a:avLst/>
          </a:prstGeom>
          <a:solidFill>
            <a:srgbClr val="E8734A"/>
          </a:solidFill>
          <a:ln/>
        </p:spPr>
      </p:sp>
      <p:sp>
        <p:nvSpPr>
          <p:cNvPr id="6" name="Text 4"/>
          <p:cNvSpPr txBox="1"/>
          <p:nvPr/>
        </p:nvSpPr>
        <p:spPr>
          <a:xfrm>
            <a:off x="1188720" y="2258568"/>
            <a:ext cx="987552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Excel: XLOOKUP-driven data prep, 15+ pivot tables, cost modeling, and a live what-if scenario</a:t>
            </a:r>
            <a:endParaRPr lang="en-US" sz="1400" dirty="0"/>
          </a:p>
        </p:txBody>
      </p:sp>
      <p:sp>
        <p:nvSpPr>
          <p:cNvPr id="7" name="Shape 5"/>
          <p:cNvSpPr/>
          <p:nvPr/>
        </p:nvSpPr>
        <p:spPr>
          <a:xfrm>
            <a:off x="868680" y="3090672"/>
            <a:ext cx="128016" cy="128016"/>
          </a:xfrm>
          <a:prstGeom prst="ellipse">
            <a:avLst/>
          </a:prstGeom>
          <a:solidFill>
            <a:srgbClr val="E8734A"/>
          </a:solidFill>
          <a:ln/>
        </p:spPr>
      </p:sp>
      <p:sp>
        <p:nvSpPr>
          <p:cNvPr id="8" name="Text 6"/>
          <p:cNvSpPr txBox="1"/>
          <p:nvPr/>
        </p:nvSpPr>
        <p:spPr>
          <a:xfrm>
            <a:off x="1188720" y="2944368"/>
            <a:ext cx="987552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Python: class-imbalance-aware logistic regression producing individual employee risk scores</a:t>
            </a:r>
            <a:endParaRPr lang="en-US" sz="1400" dirty="0"/>
          </a:p>
        </p:txBody>
      </p:sp>
      <p:sp>
        <p:nvSpPr>
          <p:cNvPr id="9" name="Shape 7"/>
          <p:cNvSpPr/>
          <p:nvPr/>
        </p:nvSpPr>
        <p:spPr>
          <a:xfrm>
            <a:off x="868680" y="3776472"/>
            <a:ext cx="128016" cy="128016"/>
          </a:xfrm>
          <a:prstGeom prst="ellipse">
            <a:avLst/>
          </a:prstGeom>
          <a:solidFill>
            <a:srgbClr val="E8734A"/>
          </a:solidFill>
          <a:ln/>
        </p:spPr>
      </p:sp>
      <p:sp>
        <p:nvSpPr>
          <p:cNvPr id="10" name="Text 8"/>
          <p:cNvSpPr txBox="1"/>
          <p:nvPr/>
        </p:nvSpPr>
        <p:spPr>
          <a:xfrm>
            <a:off x="1188720" y="3630168"/>
            <a:ext cx="987552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Together: a workflow that identifies who is at risk, what it will cost, and what to do about it</a:t>
            </a:r>
            <a:endParaRPr lang="en-US" sz="1400" dirty="0"/>
          </a:p>
        </p:txBody>
      </p:sp>
      <p:sp>
        <p:nvSpPr>
          <p:cNvPr id="11" name="Shape 9"/>
          <p:cNvSpPr/>
          <p:nvPr/>
        </p:nvSpPr>
        <p:spPr>
          <a:xfrm>
            <a:off x="822960" y="4937760"/>
            <a:ext cx="502920" cy="36576"/>
          </a:xfrm>
          <a:prstGeom prst="rect">
            <a:avLst/>
          </a:prstGeom>
          <a:solidFill>
            <a:srgbClr val="E8734A"/>
          </a:solidFill>
          <a:ln/>
        </p:spPr>
      </p:sp>
      <p:sp>
        <p:nvSpPr>
          <p:cNvPr id="12" name="Text 10"/>
          <p:cNvSpPr txBox="1"/>
          <p:nvPr/>
        </p:nvSpPr>
        <p:spPr>
          <a:xfrm>
            <a:off x="822960" y="5120640"/>
            <a:ext cx="9601200" cy="457200"/>
          </a:xfrm>
          <a:prstGeom prst="rect">
            <a:avLst/>
          </a:prstGeom>
          <a:noFill/>
          <a:ln/>
        </p:spPr>
        <p:txBody>
          <a:bodyPr wrap="square" lIns="0" tIns="0" rIns="0" bIns="0"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Full workbook, Python notebook, and README available on GitHub.</a:t>
            </a:r>
            <a:endParaRPr lang="en-US" sz="1300" dirty="0"/>
          </a:p>
        </p:txBody>
      </p:sp>
      <p:sp>
        <p:nvSpPr>
          <p:cNvPr id="13" name="Text 11"/>
          <p:cNvSpPr txBox="1"/>
          <p:nvPr/>
        </p:nvSpPr>
        <p:spPr>
          <a:xfrm>
            <a:off x="822960" y="5943600"/>
            <a:ext cx="54864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2026-09-18T05:28:19Z</dcterms:created>
  <dcterms:modified xsi:type="dcterms:W3CDTF">2026-09-18T05:28:19Z</dcterms:modified>
</cp:coreProperties>
</file>